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9065" y="560705"/>
            <a:ext cx="11586322" cy="15179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6291" y="2355758"/>
            <a:ext cx="17120235" cy="482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1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0636" y="2812517"/>
            <a:ext cx="10956925" cy="2902585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algn="ctr" marL="12700" marR="5080">
              <a:lnSpc>
                <a:spcPct val="116599"/>
              </a:lnSpc>
              <a:spcBef>
                <a:spcPts val="140"/>
              </a:spcBef>
            </a:pPr>
            <a:r>
              <a:rPr dirty="0" sz="5700" spc="-495"/>
              <a:t>Sales</a:t>
            </a:r>
            <a:r>
              <a:rPr dirty="0" sz="5700" spc="-540"/>
              <a:t> </a:t>
            </a:r>
            <a:r>
              <a:rPr dirty="0" sz="5700" spc="-350"/>
              <a:t>Data</a:t>
            </a:r>
            <a:r>
              <a:rPr dirty="0" sz="5700" spc="-540"/>
              <a:t> </a:t>
            </a:r>
            <a:r>
              <a:rPr dirty="0" sz="5700" spc="-395"/>
              <a:t>Analysis</a:t>
            </a:r>
            <a:r>
              <a:rPr dirty="0" sz="5700" spc="-540"/>
              <a:t> </a:t>
            </a:r>
            <a:r>
              <a:rPr dirty="0" sz="5700" spc="-320"/>
              <a:t>Dashboard </a:t>
            </a:r>
            <a:r>
              <a:rPr dirty="0" sz="5700" spc="-475"/>
              <a:t>Technical</a:t>
            </a:r>
            <a:r>
              <a:rPr dirty="0" sz="5700" spc="-535"/>
              <a:t> </a:t>
            </a:r>
            <a:r>
              <a:rPr dirty="0" sz="5700" spc="-1270"/>
              <a:t>&amp;</a:t>
            </a:r>
            <a:r>
              <a:rPr dirty="0" sz="5700" spc="-530"/>
              <a:t> </a:t>
            </a:r>
            <a:r>
              <a:rPr dirty="0" sz="5700" spc="-450"/>
              <a:t>Business</a:t>
            </a:r>
            <a:r>
              <a:rPr dirty="0" sz="5700" spc="-535"/>
              <a:t> </a:t>
            </a:r>
            <a:r>
              <a:rPr dirty="0" sz="5700" spc="-300"/>
              <a:t>Report </a:t>
            </a:r>
            <a:r>
              <a:rPr dirty="0" sz="4600" spc="-55">
                <a:latin typeface="Verdana"/>
                <a:cs typeface="Verdana"/>
              </a:rPr>
              <a:t>Submitted</a:t>
            </a:r>
            <a:r>
              <a:rPr dirty="0" sz="4600" spc="-450">
                <a:latin typeface="Verdana"/>
                <a:cs typeface="Verdana"/>
              </a:rPr>
              <a:t> </a:t>
            </a:r>
            <a:r>
              <a:rPr dirty="0" sz="4600" spc="-310">
                <a:latin typeface="Verdana"/>
                <a:cs typeface="Verdana"/>
              </a:rPr>
              <a:t>by:</a:t>
            </a:r>
            <a:r>
              <a:rPr dirty="0" sz="4600" spc="-445">
                <a:latin typeface="Verdana"/>
                <a:cs typeface="Verdana"/>
              </a:rPr>
              <a:t> </a:t>
            </a:r>
            <a:r>
              <a:rPr dirty="0" sz="4600" spc="-235">
                <a:latin typeface="Verdana"/>
                <a:cs typeface="Verdana"/>
              </a:rPr>
              <a:t>Ishika</a:t>
            </a:r>
            <a:r>
              <a:rPr dirty="0" sz="4600" spc="-445">
                <a:latin typeface="Verdana"/>
                <a:cs typeface="Verdana"/>
              </a:rPr>
              <a:t> </a:t>
            </a:r>
            <a:r>
              <a:rPr dirty="0" sz="4600" spc="-10">
                <a:latin typeface="Verdana"/>
                <a:cs typeface="Verdana"/>
              </a:rPr>
              <a:t>Ambagade</a:t>
            </a:r>
            <a:endParaRPr sz="4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7459" rIns="0" bIns="0" rtlCol="0" vert="horz">
            <a:spAutoFit/>
          </a:bodyPr>
          <a:lstStyle/>
          <a:p>
            <a:pPr marL="439420">
              <a:lnSpc>
                <a:spcPct val="100000"/>
              </a:lnSpc>
              <a:spcBef>
                <a:spcPts val="135"/>
              </a:spcBef>
            </a:pPr>
            <a:r>
              <a:rPr dirty="0" sz="5700" spc="-350"/>
              <a:t>Project</a:t>
            </a:r>
            <a:r>
              <a:rPr dirty="0" sz="5700" spc="-530"/>
              <a:t> </a:t>
            </a:r>
            <a:r>
              <a:rPr dirty="0" sz="5700" spc="-370"/>
              <a:t>Overview</a:t>
            </a:r>
            <a:endParaRPr sz="57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316" y="2818054"/>
            <a:ext cx="168924" cy="168924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1801" rIns="0" bIns="0" rtlCol="0" vert="horz">
            <a:spAutoFit/>
          </a:bodyPr>
          <a:lstStyle/>
          <a:p>
            <a:pPr marL="5764530" marR="453390" indent="-4680585">
              <a:lnSpc>
                <a:spcPct val="116700"/>
              </a:lnSpc>
              <a:spcBef>
                <a:spcPts val="90"/>
              </a:spcBef>
            </a:pPr>
            <a:r>
              <a:rPr dirty="0" sz="3800" spc="-70"/>
              <a:t>This</a:t>
            </a:r>
            <a:r>
              <a:rPr dirty="0" sz="3800" spc="-360"/>
              <a:t> </a:t>
            </a:r>
            <a:r>
              <a:rPr dirty="0" sz="3800" spc="-25"/>
              <a:t>project</a:t>
            </a:r>
            <a:r>
              <a:rPr dirty="0" sz="3800" spc="-350"/>
              <a:t> </a:t>
            </a:r>
            <a:r>
              <a:rPr dirty="0" sz="3800" spc="-10"/>
              <a:t>focuses</a:t>
            </a:r>
            <a:r>
              <a:rPr dirty="0" sz="3800" spc="-355"/>
              <a:t> </a:t>
            </a:r>
            <a:r>
              <a:rPr dirty="0" sz="3800"/>
              <a:t>on</a:t>
            </a:r>
            <a:r>
              <a:rPr dirty="0" sz="3800" spc="-355"/>
              <a:t> </a:t>
            </a:r>
            <a:r>
              <a:rPr dirty="0" sz="3800" spc="-110"/>
              <a:t>analyzing</a:t>
            </a:r>
            <a:r>
              <a:rPr dirty="0" sz="3800" spc="-355"/>
              <a:t> </a:t>
            </a:r>
            <a:r>
              <a:rPr dirty="0" sz="3800" spc="-70"/>
              <a:t>sales</a:t>
            </a:r>
            <a:r>
              <a:rPr dirty="0" sz="3800" spc="-355"/>
              <a:t> </a:t>
            </a:r>
            <a:r>
              <a:rPr dirty="0" sz="3800" spc="-60"/>
              <a:t>data</a:t>
            </a:r>
            <a:r>
              <a:rPr dirty="0" sz="3800" spc="-355"/>
              <a:t> </a:t>
            </a:r>
            <a:r>
              <a:rPr dirty="0" sz="3800"/>
              <a:t>to</a:t>
            </a:r>
            <a:r>
              <a:rPr dirty="0" sz="3800" spc="-355"/>
              <a:t> </a:t>
            </a:r>
            <a:r>
              <a:rPr dirty="0" sz="3800"/>
              <a:t>identify</a:t>
            </a:r>
            <a:r>
              <a:rPr dirty="0" sz="3800" spc="-355"/>
              <a:t> </a:t>
            </a:r>
            <a:r>
              <a:rPr dirty="0" sz="3800" spc="-10"/>
              <a:t>trends, </a:t>
            </a:r>
            <a:r>
              <a:rPr dirty="0" sz="3800" spc="-80"/>
              <a:t>patterns,</a:t>
            </a:r>
            <a:r>
              <a:rPr dirty="0" sz="3800" spc="-350"/>
              <a:t> </a:t>
            </a:r>
            <a:r>
              <a:rPr dirty="0" sz="3800" spc="-40"/>
              <a:t>and</a:t>
            </a:r>
            <a:r>
              <a:rPr dirty="0" sz="3800" spc="-355"/>
              <a:t> </a:t>
            </a:r>
            <a:r>
              <a:rPr dirty="0" sz="3800" spc="-10"/>
              <a:t>insights.</a:t>
            </a:r>
            <a:endParaRPr sz="3800"/>
          </a:p>
          <a:p>
            <a:pPr marL="995044">
              <a:lnSpc>
                <a:spcPct val="100000"/>
              </a:lnSpc>
              <a:spcBef>
                <a:spcPts val="760"/>
              </a:spcBef>
            </a:pPr>
            <a:r>
              <a:rPr dirty="0" sz="3800" spc="-80"/>
              <a:t>The</a:t>
            </a:r>
            <a:r>
              <a:rPr dirty="0" sz="3800" spc="-340"/>
              <a:t> </a:t>
            </a:r>
            <a:r>
              <a:rPr dirty="0" sz="3800" spc="-35"/>
              <a:t>objective</a:t>
            </a:r>
            <a:r>
              <a:rPr dirty="0" sz="3800" spc="-340"/>
              <a:t> </a:t>
            </a:r>
            <a:r>
              <a:rPr dirty="0" sz="3800" spc="-60"/>
              <a:t>is</a:t>
            </a:r>
            <a:r>
              <a:rPr dirty="0" sz="3800" spc="-340"/>
              <a:t> </a:t>
            </a:r>
            <a:r>
              <a:rPr dirty="0" sz="3800"/>
              <a:t>to</a:t>
            </a:r>
            <a:r>
              <a:rPr dirty="0" sz="3800" spc="-335"/>
              <a:t> </a:t>
            </a:r>
            <a:r>
              <a:rPr dirty="0" sz="3800"/>
              <a:t>support</a:t>
            </a:r>
            <a:r>
              <a:rPr dirty="0" sz="3800" spc="-335"/>
              <a:t> </a:t>
            </a:r>
            <a:r>
              <a:rPr dirty="0" sz="3800" spc="-55"/>
              <a:t>business</a:t>
            </a:r>
            <a:r>
              <a:rPr dirty="0" sz="3800" spc="-340"/>
              <a:t> </a:t>
            </a:r>
            <a:r>
              <a:rPr dirty="0" sz="3800" spc="-35"/>
              <a:t>decision-</a:t>
            </a:r>
            <a:r>
              <a:rPr dirty="0" sz="3800" spc="-175"/>
              <a:t>making</a:t>
            </a:r>
            <a:r>
              <a:rPr dirty="0" sz="3800" spc="-335"/>
              <a:t> </a:t>
            </a:r>
            <a:r>
              <a:rPr dirty="0" sz="3800" spc="-105"/>
              <a:t>using</a:t>
            </a:r>
            <a:r>
              <a:rPr dirty="0" sz="3800" spc="-340"/>
              <a:t> </a:t>
            </a:r>
            <a:r>
              <a:rPr dirty="0" sz="3800" spc="-20"/>
              <a:t>data-</a:t>
            </a:r>
            <a:endParaRPr sz="3800"/>
          </a:p>
          <a:p>
            <a:pPr algn="ctr" marR="351155">
              <a:lnSpc>
                <a:spcPct val="100000"/>
              </a:lnSpc>
              <a:spcBef>
                <a:spcPts val="760"/>
              </a:spcBef>
            </a:pPr>
            <a:r>
              <a:rPr dirty="0" sz="3800" spc="-35"/>
              <a:t>driven</a:t>
            </a:r>
            <a:r>
              <a:rPr dirty="0" sz="3800" spc="-370"/>
              <a:t> </a:t>
            </a:r>
            <a:r>
              <a:rPr dirty="0" sz="3800" spc="-10"/>
              <a:t>analysis.</a:t>
            </a:r>
            <a:endParaRPr sz="3800"/>
          </a:p>
          <a:p>
            <a:pPr algn="ctr" marL="139065" marR="523875">
              <a:lnSpc>
                <a:spcPts val="5320"/>
              </a:lnSpc>
              <a:spcBef>
                <a:spcPts val="110"/>
              </a:spcBef>
            </a:pPr>
            <a:r>
              <a:rPr dirty="0" sz="3800" spc="-80"/>
              <a:t>The</a:t>
            </a:r>
            <a:r>
              <a:rPr dirty="0" sz="3800" spc="-350"/>
              <a:t> </a:t>
            </a:r>
            <a:r>
              <a:rPr dirty="0" sz="3800" spc="-80"/>
              <a:t>analysis</a:t>
            </a:r>
            <a:r>
              <a:rPr dirty="0" sz="3800" spc="-350"/>
              <a:t> </a:t>
            </a:r>
            <a:r>
              <a:rPr dirty="0" sz="3800" spc="-60"/>
              <a:t>is</a:t>
            </a:r>
            <a:r>
              <a:rPr dirty="0" sz="3800" spc="-350"/>
              <a:t> </a:t>
            </a:r>
            <a:r>
              <a:rPr dirty="0" sz="3800" spc="-10"/>
              <a:t>performed</a:t>
            </a:r>
            <a:r>
              <a:rPr dirty="0" sz="3800" spc="-350"/>
              <a:t> </a:t>
            </a:r>
            <a:r>
              <a:rPr dirty="0" sz="3800" spc="-105"/>
              <a:t>using</a:t>
            </a:r>
            <a:r>
              <a:rPr dirty="0" sz="3800" spc="-350"/>
              <a:t> </a:t>
            </a:r>
            <a:r>
              <a:rPr dirty="0" sz="3800"/>
              <a:t>Python</a:t>
            </a:r>
            <a:r>
              <a:rPr dirty="0" sz="3800" spc="-345"/>
              <a:t> </a:t>
            </a:r>
            <a:r>
              <a:rPr dirty="0" sz="3800" spc="-40"/>
              <a:t>and</a:t>
            </a:r>
            <a:r>
              <a:rPr dirty="0" sz="3800" spc="-350"/>
              <a:t> </a:t>
            </a:r>
            <a:r>
              <a:rPr dirty="0" sz="3800" spc="-60"/>
              <a:t>data</a:t>
            </a:r>
            <a:r>
              <a:rPr dirty="0" sz="3800" spc="-350"/>
              <a:t> </a:t>
            </a:r>
            <a:r>
              <a:rPr dirty="0" sz="3800" spc="-10"/>
              <a:t>visualization techniques.</a:t>
            </a:r>
            <a:endParaRPr sz="3800"/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0316" y="4169451"/>
            <a:ext cx="168924" cy="1689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0316" y="5520847"/>
            <a:ext cx="168924" cy="1689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096" rIns="0" bIns="0" rtlCol="0" vert="horz">
            <a:spAutoFit/>
          </a:bodyPr>
          <a:lstStyle/>
          <a:p>
            <a:pPr marL="273685">
              <a:lnSpc>
                <a:spcPct val="100000"/>
              </a:lnSpc>
              <a:spcBef>
                <a:spcPts val="135"/>
              </a:spcBef>
            </a:pPr>
            <a:r>
              <a:rPr dirty="0" spc="-370"/>
              <a:t>Objectives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796" y="2772540"/>
            <a:ext cx="203687" cy="20368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171770" y="2377313"/>
            <a:ext cx="14076680" cy="4869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70534" marR="462915">
              <a:lnSpc>
                <a:spcPct val="116399"/>
              </a:lnSpc>
              <a:spcBef>
                <a:spcPts val="100"/>
              </a:spcBef>
            </a:pPr>
            <a:r>
              <a:rPr dirty="0" sz="4550" spc="-55">
                <a:latin typeface="Verdana"/>
                <a:cs typeface="Verdana"/>
              </a:rPr>
              <a:t>Understand</a:t>
            </a:r>
            <a:r>
              <a:rPr dirty="0" sz="4550" spc="-445">
                <a:latin typeface="Verdana"/>
                <a:cs typeface="Verdana"/>
              </a:rPr>
              <a:t> </a:t>
            </a:r>
            <a:r>
              <a:rPr dirty="0" sz="4550" spc="-105">
                <a:latin typeface="Verdana"/>
                <a:cs typeface="Verdana"/>
              </a:rPr>
              <a:t>sales</a:t>
            </a:r>
            <a:r>
              <a:rPr dirty="0" sz="4550" spc="-440">
                <a:latin typeface="Verdana"/>
                <a:cs typeface="Verdana"/>
              </a:rPr>
              <a:t> </a:t>
            </a:r>
            <a:r>
              <a:rPr dirty="0" sz="4550" spc="-60">
                <a:latin typeface="Verdana"/>
                <a:cs typeface="Verdana"/>
              </a:rPr>
              <a:t>performance</a:t>
            </a:r>
            <a:r>
              <a:rPr dirty="0" sz="4550" spc="-440">
                <a:latin typeface="Verdana"/>
                <a:cs typeface="Verdana"/>
              </a:rPr>
              <a:t> </a:t>
            </a:r>
            <a:r>
              <a:rPr dirty="0" sz="4550" spc="-75">
                <a:latin typeface="Verdana"/>
                <a:cs typeface="Verdana"/>
              </a:rPr>
              <a:t>across</a:t>
            </a:r>
            <a:r>
              <a:rPr dirty="0" sz="4550" spc="-440">
                <a:latin typeface="Verdana"/>
                <a:cs typeface="Verdana"/>
              </a:rPr>
              <a:t> </a:t>
            </a:r>
            <a:r>
              <a:rPr dirty="0" sz="4550" spc="-10">
                <a:latin typeface="Verdana"/>
                <a:cs typeface="Verdana"/>
              </a:rPr>
              <a:t>different </a:t>
            </a:r>
            <a:r>
              <a:rPr dirty="0" sz="4550" spc="-40">
                <a:latin typeface="Verdana"/>
                <a:cs typeface="Verdana"/>
              </a:rPr>
              <a:t>categories.</a:t>
            </a:r>
            <a:endParaRPr sz="4550">
              <a:latin typeface="Verdana"/>
              <a:cs typeface="Verdana"/>
            </a:endParaRPr>
          </a:p>
          <a:p>
            <a:pPr algn="ctr" marL="795020" marR="787400">
              <a:lnSpc>
                <a:spcPct val="116399"/>
              </a:lnSpc>
            </a:pPr>
            <a:r>
              <a:rPr dirty="0" sz="4550" spc="-85">
                <a:latin typeface="Verdana"/>
                <a:cs typeface="Verdana"/>
              </a:rPr>
              <a:t>Identify</a:t>
            </a:r>
            <a:r>
              <a:rPr dirty="0" sz="4550" spc="-420">
                <a:latin typeface="Verdana"/>
                <a:cs typeface="Verdana"/>
              </a:rPr>
              <a:t> </a:t>
            </a:r>
            <a:r>
              <a:rPr dirty="0" sz="4550" spc="-190">
                <a:latin typeface="Verdana"/>
                <a:cs typeface="Verdana"/>
              </a:rPr>
              <a:t>high-</a:t>
            </a:r>
            <a:r>
              <a:rPr dirty="0" sz="4550" spc="-85">
                <a:latin typeface="Verdana"/>
                <a:cs typeface="Verdana"/>
              </a:rPr>
              <a:t>performing</a:t>
            </a:r>
            <a:r>
              <a:rPr dirty="0" sz="4550" spc="-415">
                <a:latin typeface="Verdana"/>
                <a:cs typeface="Verdana"/>
              </a:rPr>
              <a:t> </a:t>
            </a:r>
            <a:r>
              <a:rPr dirty="0" sz="4550" spc="-90">
                <a:latin typeface="Verdana"/>
                <a:cs typeface="Verdana"/>
              </a:rPr>
              <a:t>and</a:t>
            </a:r>
            <a:r>
              <a:rPr dirty="0" sz="4550" spc="-420">
                <a:latin typeface="Verdana"/>
                <a:cs typeface="Verdana"/>
              </a:rPr>
              <a:t> </a:t>
            </a:r>
            <a:r>
              <a:rPr dirty="0" sz="4550" spc="-120">
                <a:latin typeface="Verdana"/>
                <a:cs typeface="Verdana"/>
              </a:rPr>
              <a:t>low-</a:t>
            </a:r>
            <a:r>
              <a:rPr dirty="0" sz="4550" spc="-30">
                <a:latin typeface="Verdana"/>
                <a:cs typeface="Verdana"/>
              </a:rPr>
              <a:t>performing </a:t>
            </a:r>
            <a:r>
              <a:rPr dirty="0" sz="4550" spc="-10">
                <a:latin typeface="Verdana"/>
                <a:cs typeface="Verdana"/>
              </a:rPr>
              <a:t>products.</a:t>
            </a:r>
            <a:endParaRPr sz="45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894"/>
              </a:spcBef>
            </a:pPr>
            <a:r>
              <a:rPr dirty="0" sz="4550" spc="-140">
                <a:latin typeface="Verdana"/>
                <a:cs typeface="Verdana"/>
              </a:rPr>
              <a:t>Analyze</a:t>
            </a:r>
            <a:r>
              <a:rPr dirty="0" sz="4550" spc="-434">
                <a:latin typeface="Verdana"/>
                <a:cs typeface="Verdana"/>
              </a:rPr>
              <a:t> </a:t>
            </a:r>
            <a:r>
              <a:rPr dirty="0" sz="4550" spc="-65">
                <a:latin typeface="Verdana"/>
                <a:cs typeface="Verdana"/>
              </a:rPr>
              <a:t>customer</a:t>
            </a:r>
            <a:r>
              <a:rPr dirty="0" sz="4550" spc="-434">
                <a:latin typeface="Verdana"/>
                <a:cs typeface="Verdana"/>
              </a:rPr>
              <a:t> </a:t>
            </a:r>
            <a:r>
              <a:rPr dirty="0" sz="4550" spc="-80">
                <a:latin typeface="Verdana"/>
                <a:cs typeface="Verdana"/>
              </a:rPr>
              <a:t>behavior</a:t>
            </a:r>
            <a:r>
              <a:rPr dirty="0" sz="4550" spc="-434">
                <a:latin typeface="Verdana"/>
                <a:cs typeface="Verdana"/>
              </a:rPr>
              <a:t> </a:t>
            </a:r>
            <a:r>
              <a:rPr dirty="0" sz="4550" spc="-90">
                <a:latin typeface="Verdana"/>
                <a:cs typeface="Verdana"/>
              </a:rPr>
              <a:t>and</a:t>
            </a:r>
            <a:r>
              <a:rPr dirty="0" sz="4550" spc="-434">
                <a:latin typeface="Verdana"/>
                <a:cs typeface="Verdana"/>
              </a:rPr>
              <a:t> </a:t>
            </a:r>
            <a:r>
              <a:rPr dirty="0" sz="4550" spc="-100">
                <a:latin typeface="Verdana"/>
                <a:cs typeface="Verdana"/>
              </a:rPr>
              <a:t>purchasing</a:t>
            </a:r>
            <a:r>
              <a:rPr dirty="0" sz="4550" spc="-434">
                <a:latin typeface="Verdana"/>
                <a:cs typeface="Verdana"/>
              </a:rPr>
              <a:t> </a:t>
            </a:r>
            <a:r>
              <a:rPr dirty="0" sz="4550" spc="-10">
                <a:latin typeface="Verdana"/>
                <a:cs typeface="Verdana"/>
              </a:rPr>
              <a:t>trends.</a:t>
            </a:r>
            <a:endParaRPr sz="45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4550" spc="-60">
                <a:latin typeface="Verdana"/>
                <a:cs typeface="Verdana"/>
              </a:rPr>
              <a:t>Present</a:t>
            </a:r>
            <a:r>
              <a:rPr dirty="0" sz="4550" spc="-450">
                <a:latin typeface="Verdana"/>
                <a:cs typeface="Verdana"/>
              </a:rPr>
              <a:t> </a:t>
            </a:r>
            <a:r>
              <a:rPr dirty="0" sz="4550" spc="-105">
                <a:latin typeface="Verdana"/>
                <a:cs typeface="Verdana"/>
              </a:rPr>
              <a:t>insights</a:t>
            </a:r>
            <a:r>
              <a:rPr dirty="0" sz="4550" spc="-445">
                <a:latin typeface="Verdana"/>
                <a:cs typeface="Verdana"/>
              </a:rPr>
              <a:t> </a:t>
            </a:r>
            <a:r>
              <a:rPr dirty="0" sz="4550" spc="-145">
                <a:latin typeface="Verdana"/>
                <a:cs typeface="Verdana"/>
              </a:rPr>
              <a:t>using</a:t>
            </a:r>
            <a:r>
              <a:rPr dirty="0" sz="4550" spc="-445">
                <a:latin typeface="Verdana"/>
                <a:cs typeface="Verdana"/>
              </a:rPr>
              <a:t> </a:t>
            </a:r>
            <a:r>
              <a:rPr dirty="0" sz="4550" spc="-40">
                <a:latin typeface="Verdana"/>
                <a:cs typeface="Verdana"/>
              </a:rPr>
              <a:t>clear</a:t>
            </a:r>
            <a:r>
              <a:rPr dirty="0" sz="4550" spc="-445">
                <a:latin typeface="Verdana"/>
                <a:cs typeface="Verdana"/>
              </a:rPr>
              <a:t> </a:t>
            </a:r>
            <a:r>
              <a:rPr dirty="0" sz="4550" spc="-35">
                <a:latin typeface="Verdana"/>
                <a:cs typeface="Verdana"/>
              </a:rPr>
              <a:t>visualizations.</a:t>
            </a:r>
            <a:endParaRPr sz="455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796" y="4386955"/>
            <a:ext cx="203687" cy="20368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796" y="6001370"/>
            <a:ext cx="203687" cy="20368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5796" y="6808578"/>
            <a:ext cx="203687" cy="2036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6508" y="2301936"/>
            <a:ext cx="174170" cy="17417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945996" y="1962143"/>
            <a:ext cx="11295380" cy="55473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5"/>
              </a:spcBef>
            </a:pPr>
            <a:r>
              <a:rPr dirty="0" sz="3850" spc="-85">
                <a:latin typeface="Verdana"/>
                <a:cs typeface="Verdana"/>
              </a:rPr>
              <a:t>The</a:t>
            </a:r>
            <a:r>
              <a:rPr dirty="0" sz="3850" spc="-365">
                <a:latin typeface="Verdana"/>
                <a:cs typeface="Verdana"/>
              </a:rPr>
              <a:t> </a:t>
            </a:r>
            <a:r>
              <a:rPr dirty="0" sz="3850" spc="-45">
                <a:latin typeface="Verdana"/>
                <a:cs typeface="Verdana"/>
              </a:rPr>
              <a:t>dataset</a:t>
            </a:r>
            <a:r>
              <a:rPr dirty="0" sz="3850" spc="-360">
                <a:latin typeface="Verdana"/>
                <a:cs typeface="Verdana"/>
              </a:rPr>
              <a:t> </a:t>
            </a:r>
            <a:r>
              <a:rPr dirty="0" sz="3850" spc="-25">
                <a:latin typeface="Verdana"/>
                <a:cs typeface="Verdana"/>
              </a:rPr>
              <a:t>contains</a:t>
            </a:r>
            <a:r>
              <a:rPr dirty="0" sz="3850" spc="-365">
                <a:latin typeface="Verdana"/>
                <a:cs typeface="Verdana"/>
              </a:rPr>
              <a:t> </a:t>
            </a:r>
            <a:r>
              <a:rPr dirty="0" sz="3850" spc="-10">
                <a:latin typeface="Verdana"/>
                <a:cs typeface="Verdana"/>
              </a:rPr>
              <a:t>historical</a:t>
            </a:r>
            <a:r>
              <a:rPr dirty="0" sz="3850" spc="-360">
                <a:latin typeface="Verdana"/>
                <a:cs typeface="Verdana"/>
              </a:rPr>
              <a:t> </a:t>
            </a:r>
            <a:r>
              <a:rPr dirty="0" sz="3850" spc="-70">
                <a:latin typeface="Verdana"/>
                <a:cs typeface="Verdana"/>
              </a:rPr>
              <a:t>sales</a:t>
            </a:r>
            <a:r>
              <a:rPr dirty="0" sz="3850" spc="-365">
                <a:latin typeface="Verdana"/>
                <a:cs typeface="Verdana"/>
              </a:rPr>
              <a:t> </a:t>
            </a:r>
            <a:r>
              <a:rPr dirty="0" sz="3850" spc="-10">
                <a:latin typeface="Verdana"/>
                <a:cs typeface="Verdana"/>
              </a:rPr>
              <a:t>records.</a:t>
            </a:r>
            <a:endParaRPr sz="3850">
              <a:latin typeface="Verdana"/>
              <a:cs typeface="Verdana"/>
            </a:endParaRPr>
          </a:p>
          <a:p>
            <a:pPr algn="ctr" marL="3033395" marR="3025775">
              <a:lnSpc>
                <a:spcPct val="117600"/>
              </a:lnSpc>
              <a:spcBef>
                <a:spcPts val="5"/>
              </a:spcBef>
            </a:pPr>
            <a:r>
              <a:rPr dirty="0" sz="3850" spc="-160">
                <a:latin typeface="Verdana"/>
                <a:cs typeface="Verdana"/>
              </a:rPr>
              <a:t>Key</a:t>
            </a:r>
            <a:r>
              <a:rPr dirty="0" sz="3850" spc="-370">
                <a:latin typeface="Verdana"/>
                <a:cs typeface="Verdana"/>
              </a:rPr>
              <a:t> </a:t>
            </a:r>
            <a:r>
              <a:rPr dirty="0" sz="3850" spc="-25">
                <a:latin typeface="Verdana"/>
                <a:cs typeface="Verdana"/>
              </a:rPr>
              <a:t>attributes</a:t>
            </a:r>
            <a:r>
              <a:rPr dirty="0" sz="3850" spc="-365">
                <a:latin typeface="Verdana"/>
                <a:cs typeface="Verdana"/>
              </a:rPr>
              <a:t> </a:t>
            </a:r>
            <a:r>
              <a:rPr dirty="0" sz="3850" spc="-10">
                <a:latin typeface="Verdana"/>
                <a:cs typeface="Verdana"/>
              </a:rPr>
              <a:t>include </a:t>
            </a:r>
            <a:r>
              <a:rPr dirty="0" sz="3850" spc="-25">
                <a:latin typeface="Verdana"/>
                <a:cs typeface="Verdana"/>
              </a:rPr>
              <a:t>Order</a:t>
            </a:r>
            <a:r>
              <a:rPr dirty="0" sz="3850" spc="-375">
                <a:latin typeface="Verdana"/>
                <a:cs typeface="Verdana"/>
              </a:rPr>
              <a:t> </a:t>
            </a:r>
            <a:r>
              <a:rPr dirty="0" sz="3850" spc="-20">
                <a:latin typeface="Verdana"/>
                <a:cs typeface="Verdana"/>
              </a:rPr>
              <a:t>Date</a:t>
            </a:r>
            <a:endParaRPr sz="3850">
              <a:latin typeface="Verdana"/>
              <a:cs typeface="Verdana"/>
            </a:endParaRPr>
          </a:p>
          <a:p>
            <a:pPr algn="ctr" marL="3552825" marR="3545204">
              <a:lnSpc>
                <a:spcPct val="117600"/>
              </a:lnSpc>
            </a:pPr>
            <a:r>
              <a:rPr dirty="0" sz="3850" spc="45">
                <a:latin typeface="Verdana"/>
                <a:cs typeface="Verdana"/>
              </a:rPr>
              <a:t>Product</a:t>
            </a:r>
            <a:r>
              <a:rPr dirty="0" sz="3850" spc="-395">
                <a:latin typeface="Verdana"/>
                <a:cs typeface="Verdana"/>
              </a:rPr>
              <a:t> </a:t>
            </a:r>
            <a:r>
              <a:rPr dirty="0" sz="3850" spc="-60">
                <a:latin typeface="Verdana"/>
                <a:cs typeface="Verdana"/>
              </a:rPr>
              <a:t>Category </a:t>
            </a:r>
            <a:r>
              <a:rPr dirty="0" sz="3850" spc="-100">
                <a:latin typeface="Verdana"/>
                <a:cs typeface="Verdana"/>
              </a:rPr>
              <a:t>Sales</a:t>
            </a:r>
            <a:r>
              <a:rPr dirty="0" sz="3850" spc="-405">
                <a:latin typeface="Verdana"/>
                <a:cs typeface="Verdana"/>
              </a:rPr>
              <a:t> </a:t>
            </a:r>
            <a:r>
              <a:rPr dirty="0" sz="3850" spc="-10">
                <a:latin typeface="Verdana"/>
                <a:cs typeface="Verdana"/>
              </a:rPr>
              <a:t>Amount </a:t>
            </a:r>
            <a:r>
              <a:rPr dirty="0" sz="3850" spc="-40">
                <a:latin typeface="Verdana"/>
                <a:cs typeface="Verdana"/>
              </a:rPr>
              <a:t>Quantity</a:t>
            </a:r>
            <a:r>
              <a:rPr dirty="0" sz="3850" spc="-365">
                <a:latin typeface="Verdana"/>
                <a:cs typeface="Verdana"/>
              </a:rPr>
              <a:t> </a:t>
            </a:r>
            <a:r>
              <a:rPr dirty="0" sz="3850" spc="-20">
                <a:latin typeface="Verdana"/>
                <a:cs typeface="Verdana"/>
              </a:rPr>
              <a:t>Sold</a:t>
            </a:r>
            <a:endParaRPr sz="3850">
              <a:latin typeface="Verdana"/>
              <a:cs typeface="Verdana"/>
            </a:endParaRPr>
          </a:p>
          <a:p>
            <a:pPr algn="ctr" marL="12700" marR="5080">
              <a:lnSpc>
                <a:spcPct val="117600"/>
              </a:lnSpc>
            </a:pPr>
            <a:r>
              <a:rPr dirty="0" sz="3850" spc="-85">
                <a:latin typeface="Verdana"/>
                <a:cs typeface="Verdana"/>
              </a:rPr>
              <a:t>The</a:t>
            </a:r>
            <a:r>
              <a:rPr dirty="0" sz="3850" spc="-360">
                <a:latin typeface="Verdana"/>
                <a:cs typeface="Verdana"/>
              </a:rPr>
              <a:t> </a:t>
            </a:r>
            <a:r>
              <a:rPr dirty="0" sz="3850" spc="-45">
                <a:latin typeface="Verdana"/>
                <a:cs typeface="Verdana"/>
              </a:rPr>
              <a:t>dataset</a:t>
            </a:r>
            <a:r>
              <a:rPr dirty="0" sz="3850" spc="-355">
                <a:latin typeface="Verdana"/>
                <a:cs typeface="Verdana"/>
              </a:rPr>
              <a:t> </a:t>
            </a:r>
            <a:r>
              <a:rPr dirty="0" sz="3850" spc="-140">
                <a:latin typeface="Verdana"/>
                <a:cs typeface="Verdana"/>
              </a:rPr>
              <a:t>was</a:t>
            </a:r>
            <a:r>
              <a:rPr dirty="0" sz="3850" spc="-355">
                <a:latin typeface="Verdana"/>
                <a:cs typeface="Verdana"/>
              </a:rPr>
              <a:t> </a:t>
            </a:r>
            <a:r>
              <a:rPr dirty="0" sz="3850">
                <a:latin typeface="Verdana"/>
                <a:cs typeface="Verdana"/>
              </a:rPr>
              <a:t>provided</a:t>
            </a:r>
            <a:r>
              <a:rPr dirty="0" sz="3850" spc="-355">
                <a:latin typeface="Verdana"/>
                <a:cs typeface="Verdana"/>
              </a:rPr>
              <a:t> </a:t>
            </a:r>
            <a:r>
              <a:rPr dirty="0" sz="3850">
                <a:latin typeface="Verdana"/>
                <a:cs typeface="Verdana"/>
              </a:rPr>
              <a:t>for</a:t>
            </a:r>
            <a:r>
              <a:rPr dirty="0" sz="3850" spc="-355">
                <a:latin typeface="Verdana"/>
                <a:cs typeface="Verdana"/>
              </a:rPr>
              <a:t> </a:t>
            </a:r>
            <a:r>
              <a:rPr dirty="0" sz="3850" spc="-80">
                <a:latin typeface="Verdana"/>
                <a:cs typeface="Verdana"/>
              </a:rPr>
              <a:t>analysis</a:t>
            </a:r>
            <a:r>
              <a:rPr dirty="0" sz="3850" spc="-355">
                <a:latin typeface="Verdana"/>
                <a:cs typeface="Verdana"/>
              </a:rPr>
              <a:t> </a:t>
            </a:r>
            <a:r>
              <a:rPr dirty="0" sz="3850" spc="-10">
                <a:latin typeface="Verdana"/>
                <a:cs typeface="Verdana"/>
              </a:rPr>
              <a:t>purposes </a:t>
            </a:r>
            <a:r>
              <a:rPr dirty="0" sz="3850" spc="-65">
                <a:latin typeface="Verdana"/>
                <a:cs typeface="Verdana"/>
              </a:rPr>
              <a:t>during</a:t>
            </a:r>
            <a:r>
              <a:rPr dirty="0" sz="3850" spc="-380">
                <a:latin typeface="Verdana"/>
                <a:cs typeface="Verdana"/>
              </a:rPr>
              <a:t> </a:t>
            </a:r>
            <a:r>
              <a:rPr dirty="0" sz="3850" spc="-20">
                <a:latin typeface="Verdana"/>
                <a:cs typeface="Verdana"/>
              </a:rPr>
              <a:t>the</a:t>
            </a:r>
            <a:r>
              <a:rPr dirty="0" sz="3850" spc="-380">
                <a:latin typeface="Verdana"/>
                <a:cs typeface="Verdana"/>
              </a:rPr>
              <a:t> </a:t>
            </a:r>
            <a:r>
              <a:rPr dirty="0" sz="3850" spc="-10">
                <a:latin typeface="Verdana"/>
                <a:cs typeface="Verdana"/>
              </a:rPr>
              <a:t>internship.</a:t>
            </a:r>
            <a:endParaRPr sz="38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6508" y="2992168"/>
            <a:ext cx="174170" cy="17417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6508" y="3682400"/>
            <a:ext cx="174170" cy="17417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6508" y="4372633"/>
            <a:ext cx="174170" cy="17417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6508" y="5062864"/>
            <a:ext cx="174170" cy="17417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6508" y="5753097"/>
            <a:ext cx="174170" cy="17417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6508" y="6443329"/>
            <a:ext cx="174170" cy="17417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6508" y="7823793"/>
            <a:ext cx="174170" cy="17417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69300" y="737609"/>
            <a:ext cx="5679440" cy="7302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 spc="-95">
                <a:latin typeface="Verdana"/>
                <a:cs typeface="Verdana"/>
              </a:rPr>
              <a:t>Dataset</a:t>
            </a:r>
            <a:r>
              <a:rPr dirty="0" sz="4600" spc="-420">
                <a:latin typeface="Verdana"/>
                <a:cs typeface="Verdana"/>
              </a:rPr>
              <a:t> </a:t>
            </a:r>
            <a:r>
              <a:rPr dirty="0" sz="4600" spc="-10">
                <a:latin typeface="Verdana"/>
                <a:cs typeface="Verdana"/>
              </a:rPr>
              <a:t>Description</a:t>
            </a:r>
            <a:endParaRPr sz="4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375" y="3921113"/>
            <a:ext cx="171449" cy="17144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176891" y="3578829"/>
            <a:ext cx="12170410" cy="276860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dirty="0" sz="3900" spc="-105">
                <a:latin typeface="Verdana"/>
                <a:cs typeface="Verdana"/>
              </a:rPr>
              <a:t>Removed</a:t>
            </a:r>
            <a:r>
              <a:rPr dirty="0" sz="3900" spc="-365">
                <a:latin typeface="Verdana"/>
                <a:cs typeface="Verdana"/>
              </a:rPr>
              <a:t> </a:t>
            </a:r>
            <a:r>
              <a:rPr dirty="0" sz="3900" spc="-135">
                <a:latin typeface="Verdana"/>
                <a:cs typeface="Verdana"/>
              </a:rPr>
              <a:t>missing</a:t>
            </a:r>
            <a:r>
              <a:rPr dirty="0" sz="3900" spc="-370">
                <a:latin typeface="Verdana"/>
                <a:cs typeface="Verdana"/>
              </a:rPr>
              <a:t> </a:t>
            </a:r>
            <a:r>
              <a:rPr dirty="0" sz="3900" spc="-65">
                <a:latin typeface="Verdana"/>
                <a:cs typeface="Verdana"/>
              </a:rPr>
              <a:t>and</a:t>
            </a:r>
            <a:r>
              <a:rPr dirty="0" sz="3900" spc="-365">
                <a:latin typeface="Verdana"/>
                <a:cs typeface="Verdana"/>
              </a:rPr>
              <a:t> </a:t>
            </a:r>
            <a:r>
              <a:rPr dirty="0" sz="3900" spc="-35">
                <a:latin typeface="Verdana"/>
                <a:cs typeface="Verdana"/>
              </a:rPr>
              <a:t>inconsistent</a:t>
            </a:r>
            <a:r>
              <a:rPr dirty="0" sz="3900" spc="-365">
                <a:latin typeface="Verdana"/>
                <a:cs typeface="Verdana"/>
              </a:rPr>
              <a:t> </a:t>
            </a:r>
            <a:r>
              <a:rPr dirty="0" sz="3900" spc="-10">
                <a:latin typeface="Verdana"/>
                <a:cs typeface="Verdana"/>
              </a:rPr>
              <a:t>values.</a:t>
            </a:r>
            <a:endParaRPr sz="3900">
              <a:latin typeface="Verdana"/>
              <a:cs typeface="Verdana"/>
            </a:endParaRPr>
          </a:p>
          <a:p>
            <a:pPr algn="ctr" marL="12065" marR="5080">
              <a:lnSpc>
                <a:spcPct val="115399"/>
              </a:lnSpc>
            </a:pPr>
            <a:r>
              <a:rPr dirty="0" sz="3900" spc="-90">
                <a:latin typeface="Verdana"/>
                <a:cs typeface="Verdana"/>
              </a:rPr>
              <a:t>Standardized</a:t>
            </a:r>
            <a:r>
              <a:rPr dirty="0" sz="3900" spc="-360">
                <a:latin typeface="Verdana"/>
                <a:cs typeface="Verdana"/>
              </a:rPr>
              <a:t> </a:t>
            </a:r>
            <a:r>
              <a:rPr dirty="0" sz="3900" spc="-35">
                <a:latin typeface="Verdana"/>
                <a:cs typeface="Verdana"/>
              </a:rPr>
              <a:t>column</a:t>
            </a:r>
            <a:r>
              <a:rPr dirty="0" sz="3900" spc="-360">
                <a:latin typeface="Verdana"/>
                <a:cs typeface="Verdana"/>
              </a:rPr>
              <a:t> </a:t>
            </a:r>
            <a:r>
              <a:rPr dirty="0" sz="3900" spc="-145">
                <a:latin typeface="Verdana"/>
                <a:cs typeface="Verdana"/>
              </a:rPr>
              <a:t>names</a:t>
            </a:r>
            <a:r>
              <a:rPr dirty="0" sz="3900" spc="-360">
                <a:latin typeface="Verdana"/>
                <a:cs typeface="Verdana"/>
              </a:rPr>
              <a:t> </a:t>
            </a:r>
            <a:r>
              <a:rPr dirty="0" sz="3900">
                <a:latin typeface="Verdana"/>
                <a:cs typeface="Verdana"/>
              </a:rPr>
              <a:t>for</a:t>
            </a:r>
            <a:r>
              <a:rPr dirty="0" sz="3900" spc="-360">
                <a:latin typeface="Verdana"/>
                <a:cs typeface="Verdana"/>
              </a:rPr>
              <a:t> </a:t>
            </a:r>
            <a:r>
              <a:rPr dirty="0" sz="3900" spc="-20">
                <a:latin typeface="Verdana"/>
                <a:cs typeface="Verdana"/>
              </a:rPr>
              <a:t>better</a:t>
            </a:r>
            <a:r>
              <a:rPr dirty="0" sz="3900" spc="-355">
                <a:latin typeface="Verdana"/>
                <a:cs typeface="Verdana"/>
              </a:rPr>
              <a:t> </a:t>
            </a:r>
            <a:r>
              <a:rPr dirty="0" sz="3900" spc="-10">
                <a:latin typeface="Verdana"/>
                <a:cs typeface="Verdana"/>
              </a:rPr>
              <a:t>readability. </a:t>
            </a:r>
            <a:r>
              <a:rPr dirty="0" sz="3900" spc="-45">
                <a:latin typeface="Verdana"/>
                <a:cs typeface="Verdana"/>
              </a:rPr>
              <a:t>Converted</a:t>
            </a:r>
            <a:r>
              <a:rPr dirty="0" sz="3900" spc="-375">
                <a:latin typeface="Verdana"/>
                <a:cs typeface="Verdana"/>
              </a:rPr>
              <a:t> </a:t>
            </a:r>
            <a:r>
              <a:rPr dirty="0" sz="3900" spc="-60">
                <a:latin typeface="Verdana"/>
                <a:cs typeface="Verdana"/>
              </a:rPr>
              <a:t>date</a:t>
            </a:r>
            <a:r>
              <a:rPr dirty="0" sz="3900" spc="-370">
                <a:latin typeface="Verdana"/>
                <a:cs typeface="Verdana"/>
              </a:rPr>
              <a:t> </a:t>
            </a:r>
            <a:r>
              <a:rPr dirty="0" sz="3900" spc="-10">
                <a:latin typeface="Verdana"/>
                <a:cs typeface="Verdana"/>
              </a:rPr>
              <a:t>fields</a:t>
            </a:r>
            <a:r>
              <a:rPr dirty="0" sz="3900" spc="-370">
                <a:latin typeface="Verdana"/>
                <a:cs typeface="Verdana"/>
              </a:rPr>
              <a:t> </a:t>
            </a:r>
            <a:r>
              <a:rPr dirty="0" sz="3900" spc="-10">
                <a:latin typeface="Verdana"/>
                <a:cs typeface="Verdana"/>
              </a:rPr>
              <a:t>into</a:t>
            </a:r>
            <a:r>
              <a:rPr dirty="0" sz="3900" spc="-370">
                <a:latin typeface="Verdana"/>
                <a:cs typeface="Verdana"/>
              </a:rPr>
              <a:t> </a:t>
            </a:r>
            <a:r>
              <a:rPr dirty="0" sz="3900" spc="-20">
                <a:latin typeface="Verdana"/>
                <a:cs typeface="Verdana"/>
              </a:rPr>
              <a:t>proper</a:t>
            </a:r>
            <a:r>
              <a:rPr dirty="0" sz="3900" spc="-370">
                <a:latin typeface="Verdana"/>
                <a:cs typeface="Verdana"/>
              </a:rPr>
              <a:t> </a:t>
            </a:r>
            <a:r>
              <a:rPr dirty="0" sz="3900" spc="-75">
                <a:latin typeface="Verdana"/>
                <a:cs typeface="Verdana"/>
              </a:rPr>
              <a:t>datetime</a:t>
            </a:r>
            <a:r>
              <a:rPr dirty="0" sz="3900" spc="-370">
                <a:latin typeface="Verdana"/>
                <a:cs typeface="Verdana"/>
              </a:rPr>
              <a:t> </a:t>
            </a:r>
            <a:r>
              <a:rPr dirty="0" sz="3900" spc="-30">
                <a:latin typeface="Verdana"/>
                <a:cs typeface="Verdana"/>
              </a:rPr>
              <a:t>format.</a:t>
            </a:r>
            <a:endParaRPr sz="3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3900" spc="-85">
                <a:latin typeface="Verdana"/>
                <a:cs typeface="Verdana"/>
              </a:rPr>
              <a:t>Ensured</a:t>
            </a:r>
            <a:r>
              <a:rPr dirty="0" sz="3900" spc="-375">
                <a:latin typeface="Verdana"/>
                <a:cs typeface="Verdana"/>
              </a:rPr>
              <a:t> </a:t>
            </a:r>
            <a:r>
              <a:rPr dirty="0" sz="3900" spc="-75">
                <a:latin typeface="Verdana"/>
                <a:cs typeface="Verdana"/>
              </a:rPr>
              <a:t>numerical</a:t>
            </a:r>
            <a:r>
              <a:rPr dirty="0" sz="3900" spc="-375">
                <a:latin typeface="Verdana"/>
                <a:cs typeface="Verdana"/>
              </a:rPr>
              <a:t> </a:t>
            </a:r>
            <a:r>
              <a:rPr dirty="0" sz="3900" spc="-10">
                <a:latin typeface="Verdana"/>
                <a:cs typeface="Verdana"/>
              </a:rPr>
              <a:t>fields</a:t>
            </a:r>
            <a:r>
              <a:rPr dirty="0" sz="3900" spc="-375">
                <a:latin typeface="Verdana"/>
                <a:cs typeface="Verdana"/>
              </a:rPr>
              <a:t> </a:t>
            </a:r>
            <a:r>
              <a:rPr dirty="0" sz="3900" spc="-120">
                <a:latin typeface="Verdana"/>
                <a:cs typeface="Verdana"/>
              </a:rPr>
              <a:t>were</a:t>
            </a:r>
            <a:r>
              <a:rPr dirty="0" sz="3900" spc="-370">
                <a:latin typeface="Verdana"/>
                <a:cs typeface="Verdana"/>
              </a:rPr>
              <a:t> </a:t>
            </a:r>
            <a:r>
              <a:rPr dirty="0" sz="3900">
                <a:latin typeface="Verdana"/>
                <a:cs typeface="Verdana"/>
              </a:rPr>
              <a:t>correctly</a:t>
            </a:r>
            <a:r>
              <a:rPr dirty="0" sz="3900" spc="-375">
                <a:latin typeface="Verdana"/>
                <a:cs typeface="Verdana"/>
              </a:rPr>
              <a:t> </a:t>
            </a:r>
            <a:r>
              <a:rPr dirty="0" sz="3900" spc="-10">
                <a:latin typeface="Verdana"/>
                <a:cs typeface="Verdana"/>
              </a:rPr>
              <a:t>typed.</a:t>
            </a:r>
            <a:endParaRPr sz="39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375" y="4606913"/>
            <a:ext cx="171449" cy="1714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375" y="5292713"/>
            <a:ext cx="171449" cy="1714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1375" y="5978513"/>
            <a:ext cx="171449" cy="1714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53103" y="1643638"/>
            <a:ext cx="7842884" cy="899794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700" spc="-125">
                <a:latin typeface="Verdana"/>
                <a:cs typeface="Verdana"/>
              </a:rPr>
              <a:t>Data</a:t>
            </a:r>
            <a:r>
              <a:rPr dirty="0" sz="5700" spc="-560">
                <a:latin typeface="Verdana"/>
                <a:cs typeface="Verdana"/>
              </a:rPr>
              <a:t> </a:t>
            </a:r>
            <a:r>
              <a:rPr dirty="0" sz="5700" spc="-110">
                <a:latin typeface="Verdana"/>
                <a:cs typeface="Verdana"/>
              </a:rPr>
              <a:t>Cleaning</a:t>
            </a:r>
            <a:r>
              <a:rPr dirty="0" sz="5700" spc="-560">
                <a:latin typeface="Verdana"/>
                <a:cs typeface="Verdana"/>
              </a:rPr>
              <a:t> </a:t>
            </a:r>
            <a:r>
              <a:rPr dirty="0" sz="5700" spc="-10">
                <a:latin typeface="Verdana"/>
                <a:cs typeface="Verdana"/>
              </a:rPr>
              <a:t>Process</a:t>
            </a:r>
            <a:endParaRPr sz="5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497" y="2980896"/>
            <a:ext cx="220892" cy="22089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512094" y="2552265"/>
            <a:ext cx="14158594" cy="3494404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dirty="0" sz="4850" spc="-100">
                <a:latin typeface="Verdana"/>
                <a:cs typeface="Verdana"/>
              </a:rPr>
              <a:t>Analyzed</a:t>
            </a:r>
            <a:r>
              <a:rPr dirty="0" sz="4850" spc="-465">
                <a:latin typeface="Verdana"/>
                <a:cs typeface="Verdana"/>
              </a:rPr>
              <a:t> </a:t>
            </a:r>
            <a:r>
              <a:rPr dirty="0" sz="4850" spc="-65">
                <a:latin typeface="Verdana"/>
                <a:cs typeface="Verdana"/>
              </a:rPr>
              <a:t>overall</a:t>
            </a:r>
            <a:r>
              <a:rPr dirty="0" sz="4850" spc="-465">
                <a:latin typeface="Verdana"/>
                <a:cs typeface="Verdana"/>
              </a:rPr>
              <a:t> </a:t>
            </a:r>
            <a:r>
              <a:rPr dirty="0" sz="4850" spc="-90">
                <a:latin typeface="Verdana"/>
                <a:cs typeface="Verdana"/>
              </a:rPr>
              <a:t>sales</a:t>
            </a:r>
            <a:r>
              <a:rPr dirty="0" sz="4850" spc="-465">
                <a:latin typeface="Verdana"/>
                <a:cs typeface="Verdana"/>
              </a:rPr>
              <a:t> </a:t>
            </a:r>
            <a:r>
              <a:rPr dirty="0" sz="4850" spc="-10">
                <a:latin typeface="Verdana"/>
                <a:cs typeface="Verdana"/>
              </a:rPr>
              <a:t>distribution.</a:t>
            </a:r>
            <a:endParaRPr sz="48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dirty="0" sz="4850" spc="-50">
                <a:latin typeface="Verdana"/>
                <a:cs typeface="Verdana"/>
              </a:rPr>
              <a:t>Studied</a:t>
            </a:r>
            <a:r>
              <a:rPr dirty="0" sz="4850" spc="-450">
                <a:latin typeface="Verdana"/>
                <a:cs typeface="Verdana"/>
              </a:rPr>
              <a:t> </a:t>
            </a:r>
            <a:r>
              <a:rPr dirty="0" sz="4850" spc="-130">
                <a:latin typeface="Verdana"/>
                <a:cs typeface="Verdana"/>
              </a:rPr>
              <a:t>category-</a:t>
            </a:r>
            <a:r>
              <a:rPr dirty="0" sz="4850" spc="-105">
                <a:latin typeface="Verdana"/>
                <a:cs typeface="Verdana"/>
              </a:rPr>
              <a:t>wise</a:t>
            </a:r>
            <a:r>
              <a:rPr dirty="0" sz="4850" spc="-450">
                <a:latin typeface="Verdana"/>
                <a:cs typeface="Verdana"/>
              </a:rPr>
              <a:t> </a:t>
            </a:r>
            <a:r>
              <a:rPr dirty="0" sz="4850" spc="-70">
                <a:latin typeface="Verdana"/>
                <a:cs typeface="Verdana"/>
              </a:rPr>
              <a:t>and</a:t>
            </a:r>
            <a:r>
              <a:rPr dirty="0" sz="4850" spc="-445">
                <a:latin typeface="Verdana"/>
                <a:cs typeface="Verdana"/>
              </a:rPr>
              <a:t> </a:t>
            </a:r>
            <a:r>
              <a:rPr dirty="0" sz="4850" spc="-40">
                <a:latin typeface="Verdana"/>
                <a:cs typeface="Verdana"/>
              </a:rPr>
              <a:t>product-</a:t>
            </a:r>
            <a:r>
              <a:rPr dirty="0" sz="4850" spc="-105">
                <a:latin typeface="Verdana"/>
                <a:cs typeface="Verdana"/>
              </a:rPr>
              <a:t>wise</a:t>
            </a:r>
            <a:r>
              <a:rPr dirty="0" sz="4850" spc="-450">
                <a:latin typeface="Verdana"/>
                <a:cs typeface="Verdana"/>
              </a:rPr>
              <a:t> </a:t>
            </a:r>
            <a:r>
              <a:rPr dirty="0" sz="4850" spc="-10">
                <a:latin typeface="Verdana"/>
                <a:cs typeface="Verdana"/>
              </a:rPr>
              <a:t>sales.</a:t>
            </a:r>
            <a:endParaRPr sz="48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05"/>
              </a:spcBef>
            </a:pPr>
            <a:r>
              <a:rPr dirty="0" sz="4850" spc="-60">
                <a:latin typeface="Verdana"/>
                <a:cs typeface="Verdana"/>
              </a:rPr>
              <a:t>Identified</a:t>
            </a:r>
            <a:r>
              <a:rPr dirty="0" sz="4850" spc="-455">
                <a:latin typeface="Verdana"/>
                <a:cs typeface="Verdana"/>
              </a:rPr>
              <a:t> </a:t>
            </a:r>
            <a:r>
              <a:rPr dirty="0" sz="4850" spc="-30">
                <a:latin typeface="Verdana"/>
                <a:cs typeface="Verdana"/>
              </a:rPr>
              <a:t>outliers</a:t>
            </a:r>
            <a:r>
              <a:rPr dirty="0" sz="4850" spc="-455">
                <a:latin typeface="Verdana"/>
                <a:cs typeface="Verdana"/>
              </a:rPr>
              <a:t> </a:t>
            </a:r>
            <a:r>
              <a:rPr dirty="0" sz="4850" spc="-70">
                <a:latin typeface="Verdana"/>
                <a:cs typeface="Verdana"/>
              </a:rPr>
              <a:t>and</a:t>
            </a:r>
            <a:r>
              <a:rPr dirty="0" sz="4850" spc="-450">
                <a:latin typeface="Verdana"/>
                <a:cs typeface="Verdana"/>
              </a:rPr>
              <a:t> </a:t>
            </a:r>
            <a:r>
              <a:rPr dirty="0" sz="4850" spc="-90">
                <a:latin typeface="Verdana"/>
                <a:cs typeface="Verdana"/>
              </a:rPr>
              <a:t>unusual</a:t>
            </a:r>
            <a:r>
              <a:rPr dirty="0" sz="4850" spc="-455">
                <a:latin typeface="Verdana"/>
                <a:cs typeface="Verdana"/>
              </a:rPr>
              <a:t> </a:t>
            </a:r>
            <a:r>
              <a:rPr dirty="0" sz="4850" spc="-10">
                <a:latin typeface="Verdana"/>
                <a:cs typeface="Verdana"/>
              </a:rPr>
              <a:t>patterns.</a:t>
            </a:r>
            <a:endParaRPr sz="48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dirty="0" sz="4850" spc="-25">
                <a:latin typeface="Verdana"/>
                <a:cs typeface="Verdana"/>
              </a:rPr>
              <a:t>Used</a:t>
            </a:r>
            <a:r>
              <a:rPr dirty="0" sz="4850" spc="-470">
                <a:latin typeface="Verdana"/>
                <a:cs typeface="Verdana"/>
              </a:rPr>
              <a:t> </a:t>
            </a:r>
            <a:r>
              <a:rPr dirty="0" sz="4850" spc="-85">
                <a:latin typeface="Verdana"/>
                <a:cs typeface="Verdana"/>
              </a:rPr>
              <a:t>visual</a:t>
            </a:r>
            <a:r>
              <a:rPr dirty="0" sz="4850" spc="-465">
                <a:latin typeface="Verdana"/>
                <a:cs typeface="Verdana"/>
              </a:rPr>
              <a:t> </a:t>
            </a:r>
            <a:r>
              <a:rPr dirty="0" sz="4850">
                <a:latin typeface="Verdana"/>
                <a:cs typeface="Verdana"/>
              </a:rPr>
              <a:t>tools</a:t>
            </a:r>
            <a:r>
              <a:rPr dirty="0" sz="4850" spc="-470">
                <a:latin typeface="Verdana"/>
                <a:cs typeface="Verdana"/>
              </a:rPr>
              <a:t> </a:t>
            </a:r>
            <a:r>
              <a:rPr dirty="0" sz="4850" spc="-135">
                <a:latin typeface="Verdana"/>
                <a:cs typeface="Verdana"/>
              </a:rPr>
              <a:t>like</a:t>
            </a:r>
            <a:r>
              <a:rPr dirty="0" sz="4850" spc="-465">
                <a:latin typeface="Verdana"/>
                <a:cs typeface="Verdana"/>
              </a:rPr>
              <a:t> </a:t>
            </a:r>
            <a:r>
              <a:rPr dirty="0" sz="4850" spc="-70">
                <a:latin typeface="Verdana"/>
                <a:cs typeface="Verdana"/>
              </a:rPr>
              <a:t>bar</a:t>
            </a:r>
            <a:r>
              <a:rPr dirty="0" sz="4850" spc="-465">
                <a:latin typeface="Verdana"/>
                <a:cs typeface="Verdana"/>
              </a:rPr>
              <a:t> </a:t>
            </a:r>
            <a:r>
              <a:rPr dirty="0" sz="4850" spc="-40">
                <a:latin typeface="Verdana"/>
                <a:cs typeface="Verdana"/>
              </a:rPr>
              <a:t>charts</a:t>
            </a:r>
            <a:r>
              <a:rPr dirty="0" sz="4850" spc="-470">
                <a:latin typeface="Verdana"/>
                <a:cs typeface="Verdana"/>
              </a:rPr>
              <a:t> </a:t>
            </a:r>
            <a:r>
              <a:rPr dirty="0" sz="4850" spc="-70">
                <a:latin typeface="Verdana"/>
                <a:cs typeface="Verdana"/>
              </a:rPr>
              <a:t>and</a:t>
            </a:r>
            <a:r>
              <a:rPr dirty="0" sz="4850" spc="-465">
                <a:latin typeface="Verdana"/>
                <a:cs typeface="Verdana"/>
              </a:rPr>
              <a:t> </a:t>
            </a:r>
            <a:r>
              <a:rPr dirty="0" sz="4850" spc="-30">
                <a:latin typeface="Verdana"/>
                <a:cs typeface="Verdana"/>
              </a:rPr>
              <a:t>line</a:t>
            </a:r>
            <a:r>
              <a:rPr dirty="0" sz="4850" spc="-470">
                <a:latin typeface="Verdana"/>
                <a:cs typeface="Verdana"/>
              </a:rPr>
              <a:t> </a:t>
            </a:r>
            <a:r>
              <a:rPr dirty="0" sz="4850" spc="-10">
                <a:latin typeface="Verdana"/>
                <a:cs typeface="Verdana"/>
              </a:rPr>
              <a:t>graphs</a:t>
            </a:r>
            <a:endParaRPr sz="48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497" y="3848103"/>
            <a:ext cx="220892" cy="22089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497" y="4715309"/>
            <a:ext cx="220892" cy="22089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497" y="5582515"/>
            <a:ext cx="220892" cy="22089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9768" rIns="0" bIns="0" rtlCol="0" vert="horz">
            <a:spAutoFit/>
          </a:bodyPr>
          <a:lstStyle/>
          <a:p>
            <a:pPr marL="323215">
              <a:lnSpc>
                <a:spcPct val="100000"/>
              </a:lnSpc>
              <a:spcBef>
                <a:spcPts val="135"/>
              </a:spcBef>
            </a:pPr>
            <a:r>
              <a:rPr dirty="0" spc="-310"/>
              <a:t>Exploratory</a:t>
            </a:r>
            <a:r>
              <a:rPr dirty="0" spc="-535"/>
              <a:t> </a:t>
            </a:r>
            <a:r>
              <a:rPr dirty="0" spc="-355"/>
              <a:t>Data</a:t>
            </a:r>
            <a:r>
              <a:rPr dirty="0" spc="-535"/>
              <a:t> </a:t>
            </a:r>
            <a:r>
              <a:rPr dirty="0" spc="-395"/>
              <a:t>Analysis</a:t>
            </a:r>
            <a:r>
              <a:rPr dirty="0" spc="-535"/>
              <a:t> </a:t>
            </a:r>
            <a:r>
              <a:rPr dirty="0" spc="-350"/>
              <a:t>(EDA)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8839" y="3959683"/>
            <a:ext cx="230666" cy="23066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836335" y="3512646"/>
            <a:ext cx="14629765" cy="545909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dirty="0" sz="5100" spc="-114">
                <a:latin typeface="Verdana"/>
                <a:cs typeface="Verdana"/>
              </a:rPr>
              <a:t>Bar</a:t>
            </a:r>
            <a:r>
              <a:rPr dirty="0" sz="5100" spc="-484">
                <a:latin typeface="Verdana"/>
                <a:cs typeface="Verdana"/>
              </a:rPr>
              <a:t> </a:t>
            </a:r>
            <a:r>
              <a:rPr dirty="0" sz="5100" spc="-60">
                <a:latin typeface="Verdana"/>
                <a:cs typeface="Verdana"/>
              </a:rPr>
              <a:t>charts</a:t>
            </a:r>
            <a:r>
              <a:rPr dirty="0" sz="5100" spc="-484">
                <a:latin typeface="Verdana"/>
                <a:cs typeface="Verdana"/>
              </a:rPr>
              <a:t> </a:t>
            </a:r>
            <a:r>
              <a:rPr dirty="0" sz="5100">
                <a:latin typeface="Verdana"/>
                <a:cs typeface="Verdana"/>
              </a:rPr>
              <a:t>for</a:t>
            </a:r>
            <a:r>
              <a:rPr dirty="0" sz="5100" spc="-480">
                <a:latin typeface="Verdana"/>
                <a:cs typeface="Verdana"/>
              </a:rPr>
              <a:t> </a:t>
            </a:r>
            <a:r>
              <a:rPr dirty="0" sz="5100" spc="-160">
                <a:latin typeface="Verdana"/>
                <a:cs typeface="Verdana"/>
              </a:rPr>
              <a:t>category-</a:t>
            </a:r>
            <a:r>
              <a:rPr dirty="0" sz="5100" spc="-140">
                <a:latin typeface="Verdana"/>
                <a:cs typeface="Verdana"/>
              </a:rPr>
              <a:t>wise</a:t>
            </a:r>
            <a:r>
              <a:rPr dirty="0" sz="5100" spc="-484">
                <a:latin typeface="Verdana"/>
                <a:cs typeface="Verdana"/>
              </a:rPr>
              <a:t> </a:t>
            </a:r>
            <a:r>
              <a:rPr dirty="0" sz="5100" spc="-120">
                <a:latin typeface="Verdana"/>
                <a:cs typeface="Verdana"/>
              </a:rPr>
              <a:t>sales</a:t>
            </a:r>
            <a:r>
              <a:rPr dirty="0" sz="5100" spc="-484">
                <a:latin typeface="Verdana"/>
                <a:cs typeface="Verdana"/>
              </a:rPr>
              <a:t> </a:t>
            </a:r>
            <a:r>
              <a:rPr dirty="0" sz="5100" spc="-10">
                <a:latin typeface="Verdana"/>
                <a:cs typeface="Verdana"/>
              </a:rPr>
              <a:t>comparison.</a:t>
            </a:r>
            <a:endParaRPr sz="5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dirty="0" sz="5100" spc="-60">
                <a:latin typeface="Verdana"/>
                <a:cs typeface="Verdana"/>
              </a:rPr>
              <a:t>Line</a:t>
            </a:r>
            <a:r>
              <a:rPr dirty="0" sz="5100" spc="-495">
                <a:latin typeface="Verdana"/>
                <a:cs typeface="Verdana"/>
              </a:rPr>
              <a:t> </a:t>
            </a:r>
            <a:r>
              <a:rPr dirty="0" sz="5100" spc="-150">
                <a:latin typeface="Verdana"/>
                <a:cs typeface="Verdana"/>
              </a:rPr>
              <a:t>graphs</a:t>
            </a:r>
            <a:r>
              <a:rPr dirty="0" sz="5100" spc="-495">
                <a:latin typeface="Verdana"/>
                <a:cs typeface="Verdana"/>
              </a:rPr>
              <a:t> </a:t>
            </a:r>
            <a:r>
              <a:rPr dirty="0" sz="5100">
                <a:latin typeface="Verdana"/>
                <a:cs typeface="Verdana"/>
              </a:rPr>
              <a:t>for</a:t>
            </a:r>
            <a:r>
              <a:rPr dirty="0" sz="5100" spc="-495">
                <a:latin typeface="Verdana"/>
                <a:cs typeface="Verdana"/>
              </a:rPr>
              <a:t> </a:t>
            </a:r>
            <a:r>
              <a:rPr dirty="0" sz="5100" spc="-170">
                <a:latin typeface="Verdana"/>
                <a:cs typeface="Verdana"/>
              </a:rPr>
              <a:t>time-</a:t>
            </a:r>
            <a:r>
              <a:rPr dirty="0" sz="5100" spc="-75">
                <a:latin typeface="Verdana"/>
                <a:cs typeface="Verdana"/>
              </a:rPr>
              <a:t>based</a:t>
            </a:r>
            <a:r>
              <a:rPr dirty="0" sz="5100" spc="-495">
                <a:latin typeface="Verdana"/>
                <a:cs typeface="Verdana"/>
              </a:rPr>
              <a:t> </a:t>
            </a:r>
            <a:r>
              <a:rPr dirty="0" sz="5100" spc="-120">
                <a:latin typeface="Verdana"/>
                <a:cs typeface="Verdana"/>
              </a:rPr>
              <a:t>sales</a:t>
            </a:r>
            <a:r>
              <a:rPr dirty="0" sz="5100" spc="-495">
                <a:latin typeface="Verdana"/>
                <a:cs typeface="Verdana"/>
              </a:rPr>
              <a:t> </a:t>
            </a:r>
            <a:r>
              <a:rPr dirty="0" sz="5100" spc="-10">
                <a:latin typeface="Verdana"/>
                <a:cs typeface="Verdana"/>
              </a:rPr>
              <a:t>trends.</a:t>
            </a:r>
            <a:endParaRPr sz="5100">
              <a:latin typeface="Verdana"/>
              <a:cs typeface="Verdana"/>
            </a:endParaRPr>
          </a:p>
          <a:p>
            <a:pPr algn="ctr" marL="12700" marR="5080">
              <a:lnSpc>
                <a:spcPct val="116500"/>
              </a:lnSpc>
            </a:pPr>
            <a:r>
              <a:rPr dirty="0" sz="5100" spc="-95">
                <a:latin typeface="Verdana"/>
                <a:cs typeface="Verdana"/>
              </a:rPr>
              <a:t>Scatter</a:t>
            </a:r>
            <a:r>
              <a:rPr dirty="0" sz="5100" spc="-475">
                <a:latin typeface="Verdana"/>
                <a:cs typeface="Verdana"/>
              </a:rPr>
              <a:t> </a:t>
            </a:r>
            <a:r>
              <a:rPr dirty="0" sz="5100">
                <a:latin typeface="Verdana"/>
                <a:cs typeface="Verdana"/>
              </a:rPr>
              <a:t>plots</a:t>
            </a:r>
            <a:r>
              <a:rPr dirty="0" sz="5100" spc="-470">
                <a:latin typeface="Verdana"/>
                <a:cs typeface="Verdana"/>
              </a:rPr>
              <a:t> </a:t>
            </a:r>
            <a:r>
              <a:rPr dirty="0" sz="5100">
                <a:latin typeface="Verdana"/>
                <a:cs typeface="Verdana"/>
              </a:rPr>
              <a:t>to</a:t>
            </a:r>
            <a:r>
              <a:rPr dirty="0" sz="5100" spc="-470">
                <a:latin typeface="Verdana"/>
                <a:cs typeface="Verdana"/>
              </a:rPr>
              <a:t> </a:t>
            </a:r>
            <a:r>
              <a:rPr dirty="0" sz="5100" spc="-80">
                <a:latin typeface="Verdana"/>
                <a:cs typeface="Verdana"/>
              </a:rPr>
              <a:t>observe</a:t>
            </a:r>
            <a:r>
              <a:rPr dirty="0" sz="5100" spc="-475">
                <a:latin typeface="Verdana"/>
                <a:cs typeface="Verdana"/>
              </a:rPr>
              <a:t> </a:t>
            </a:r>
            <a:r>
              <a:rPr dirty="0" sz="5100" spc="-70">
                <a:latin typeface="Verdana"/>
                <a:cs typeface="Verdana"/>
              </a:rPr>
              <a:t>relationships</a:t>
            </a:r>
            <a:r>
              <a:rPr dirty="0" sz="5100" spc="-470">
                <a:latin typeface="Verdana"/>
                <a:cs typeface="Verdana"/>
              </a:rPr>
              <a:t> </a:t>
            </a:r>
            <a:r>
              <a:rPr dirty="0" sz="5100" spc="-10">
                <a:latin typeface="Verdana"/>
                <a:cs typeface="Verdana"/>
              </a:rPr>
              <a:t>between </a:t>
            </a:r>
            <a:r>
              <a:rPr dirty="0" sz="5100" spc="-45">
                <a:latin typeface="Verdana"/>
                <a:cs typeface="Verdana"/>
              </a:rPr>
              <a:t>variables.</a:t>
            </a:r>
            <a:endParaRPr sz="5100">
              <a:latin typeface="Verdana"/>
              <a:cs typeface="Verdana"/>
            </a:endParaRPr>
          </a:p>
          <a:p>
            <a:pPr algn="ctr" marL="190500" marR="182880">
              <a:lnSpc>
                <a:spcPct val="116500"/>
              </a:lnSpc>
            </a:pPr>
            <a:r>
              <a:rPr dirty="0" sz="5100" spc="-125">
                <a:latin typeface="Verdana"/>
                <a:cs typeface="Verdana"/>
              </a:rPr>
              <a:t>Heatmaps</a:t>
            </a:r>
            <a:r>
              <a:rPr dirty="0" sz="5100" spc="-475">
                <a:latin typeface="Verdana"/>
                <a:cs typeface="Verdana"/>
              </a:rPr>
              <a:t> </a:t>
            </a:r>
            <a:r>
              <a:rPr dirty="0" sz="5100">
                <a:latin typeface="Verdana"/>
                <a:cs typeface="Verdana"/>
              </a:rPr>
              <a:t>to</a:t>
            </a:r>
            <a:r>
              <a:rPr dirty="0" sz="5100" spc="-470">
                <a:latin typeface="Verdana"/>
                <a:cs typeface="Verdana"/>
              </a:rPr>
              <a:t> </a:t>
            </a:r>
            <a:r>
              <a:rPr dirty="0" sz="5100" spc="-70">
                <a:latin typeface="Verdana"/>
                <a:cs typeface="Verdana"/>
              </a:rPr>
              <a:t>understand</a:t>
            </a:r>
            <a:r>
              <a:rPr dirty="0" sz="5100" spc="-470">
                <a:latin typeface="Verdana"/>
                <a:cs typeface="Verdana"/>
              </a:rPr>
              <a:t> </a:t>
            </a:r>
            <a:r>
              <a:rPr dirty="0" sz="5100" spc="-45">
                <a:latin typeface="Verdana"/>
                <a:cs typeface="Verdana"/>
              </a:rPr>
              <a:t>correlation</a:t>
            </a:r>
            <a:r>
              <a:rPr dirty="0" sz="5100" spc="-470">
                <a:latin typeface="Verdana"/>
                <a:cs typeface="Verdana"/>
              </a:rPr>
              <a:t> </a:t>
            </a:r>
            <a:r>
              <a:rPr dirty="0" sz="5100" spc="-10">
                <a:latin typeface="Verdana"/>
                <a:cs typeface="Verdana"/>
              </a:rPr>
              <a:t>between </a:t>
            </a:r>
            <a:r>
              <a:rPr dirty="0" sz="5100" spc="-35">
                <a:latin typeface="Verdana"/>
                <a:cs typeface="Verdana"/>
              </a:rPr>
              <a:t>features.</a:t>
            </a:r>
            <a:endParaRPr sz="51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8839" y="4865265"/>
            <a:ext cx="230666" cy="23066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8839" y="5770846"/>
            <a:ext cx="230666" cy="23066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8839" y="7582008"/>
            <a:ext cx="230666" cy="23066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9768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135"/>
              </a:spcBef>
            </a:pPr>
            <a:r>
              <a:rPr dirty="0" spc="-355"/>
              <a:t>Data</a:t>
            </a:r>
            <a:r>
              <a:rPr dirty="0" spc="-540"/>
              <a:t> </a:t>
            </a:r>
            <a:r>
              <a:rPr dirty="0" spc="-355"/>
              <a:t>Visualization</a:t>
            </a:r>
            <a:r>
              <a:rPr dirty="0" spc="-535"/>
              <a:t> </a:t>
            </a:r>
            <a:r>
              <a:rPr dirty="0" spc="-445"/>
              <a:t>Techniques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824" y="2748581"/>
            <a:ext cx="209550" cy="209549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882015">
              <a:lnSpc>
                <a:spcPct val="116700"/>
              </a:lnSpc>
              <a:spcBef>
                <a:spcPts val="90"/>
              </a:spcBef>
            </a:pPr>
            <a:r>
              <a:rPr dirty="0" sz="4500" spc="-55"/>
              <a:t>Certain</a:t>
            </a:r>
            <a:r>
              <a:rPr dirty="0" sz="4500" spc="-395"/>
              <a:t> </a:t>
            </a:r>
            <a:r>
              <a:rPr dirty="0" sz="4500"/>
              <a:t>product</a:t>
            </a:r>
            <a:r>
              <a:rPr dirty="0" sz="4500" spc="-395"/>
              <a:t> </a:t>
            </a:r>
            <a:r>
              <a:rPr dirty="0" sz="4500" spc="-80"/>
              <a:t>categories</a:t>
            </a:r>
            <a:r>
              <a:rPr dirty="0" sz="4500" spc="-395"/>
              <a:t> </a:t>
            </a:r>
            <a:r>
              <a:rPr dirty="0" sz="4500"/>
              <a:t>contribute</a:t>
            </a:r>
            <a:r>
              <a:rPr dirty="0" sz="4500" spc="-395"/>
              <a:t> </a:t>
            </a:r>
            <a:r>
              <a:rPr dirty="0" sz="4500" spc="-35"/>
              <a:t>the</a:t>
            </a:r>
            <a:r>
              <a:rPr dirty="0" sz="4500" spc="-390"/>
              <a:t> </a:t>
            </a:r>
            <a:r>
              <a:rPr dirty="0" sz="4500" spc="-114"/>
              <a:t>majority</a:t>
            </a:r>
            <a:r>
              <a:rPr dirty="0" sz="4500" spc="-395"/>
              <a:t> </a:t>
            </a:r>
            <a:r>
              <a:rPr dirty="0" sz="4500" spc="95"/>
              <a:t>of</a:t>
            </a:r>
            <a:r>
              <a:rPr dirty="0" sz="4500" spc="-395"/>
              <a:t> </a:t>
            </a:r>
            <a:r>
              <a:rPr dirty="0" sz="4500" spc="-20"/>
              <a:t>total </a:t>
            </a:r>
            <a:r>
              <a:rPr dirty="0" sz="4500" spc="-10"/>
              <a:t>sales.</a:t>
            </a:r>
            <a:endParaRPr sz="4500"/>
          </a:p>
          <a:p>
            <a:pPr marL="12700" marR="51435">
              <a:lnSpc>
                <a:spcPts val="6300"/>
              </a:lnSpc>
              <a:spcBef>
                <a:spcPts val="360"/>
              </a:spcBef>
            </a:pPr>
            <a:r>
              <a:rPr dirty="0" sz="4500" spc="-130"/>
              <a:t>Sales</a:t>
            </a:r>
            <a:r>
              <a:rPr dirty="0" sz="4500" spc="-434"/>
              <a:t> </a:t>
            </a:r>
            <a:r>
              <a:rPr dirty="0" sz="4500" spc="-75"/>
              <a:t>show</a:t>
            </a:r>
            <a:r>
              <a:rPr dirty="0" sz="4500" spc="-434"/>
              <a:t> </a:t>
            </a:r>
            <a:r>
              <a:rPr dirty="0" sz="4500"/>
              <a:t>noticeable</a:t>
            </a:r>
            <a:r>
              <a:rPr dirty="0" sz="4500" spc="-430"/>
              <a:t> </a:t>
            </a:r>
            <a:r>
              <a:rPr dirty="0" sz="4500" spc="-80"/>
              <a:t>variation</a:t>
            </a:r>
            <a:r>
              <a:rPr dirty="0" sz="4500" spc="-434"/>
              <a:t> </a:t>
            </a:r>
            <a:r>
              <a:rPr dirty="0" sz="4500" spc="-60"/>
              <a:t>across</a:t>
            </a:r>
            <a:r>
              <a:rPr dirty="0" sz="4500" spc="-430"/>
              <a:t> </a:t>
            </a:r>
            <a:r>
              <a:rPr dirty="0" sz="4500"/>
              <a:t>different</a:t>
            </a:r>
            <a:r>
              <a:rPr dirty="0" sz="4500" spc="-434"/>
              <a:t> </a:t>
            </a:r>
            <a:r>
              <a:rPr dirty="0" sz="4500" spc="-80"/>
              <a:t>time</a:t>
            </a:r>
            <a:r>
              <a:rPr dirty="0" sz="4500" spc="-430"/>
              <a:t> </a:t>
            </a:r>
            <a:r>
              <a:rPr dirty="0" sz="4500" spc="-10"/>
              <a:t>periods. </a:t>
            </a:r>
            <a:r>
              <a:rPr dirty="0" sz="4500" spc="-150"/>
              <a:t>Some</a:t>
            </a:r>
            <a:r>
              <a:rPr dirty="0" sz="4500" spc="-405"/>
              <a:t> </a:t>
            </a:r>
            <a:r>
              <a:rPr dirty="0" sz="4500"/>
              <a:t>products</a:t>
            </a:r>
            <a:r>
              <a:rPr dirty="0" sz="4500" spc="-400"/>
              <a:t> </a:t>
            </a:r>
            <a:r>
              <a:rPr dirty="0" sz="4500" spc="-20"/>
              <a:t>consistently</a:t>
            </a:r>
            <a:r>
              <a:rPr dirty="0" sz="4500" spc="-400"/>
              <a:t> </a:t>
            </a:r>
            <a:r>
              <a:rPr dirty="0" sz="4500" spc="-35"/>
              <a:t>underperform</a:t>
            </a:r>
            <a:r>
              <a:rPr dirty="0" sz="4500" spc="-400"/>
              <a:t> </a:t>
            </a:r>
            <a:r>
              <a:rPr dirty="0" sz="4500" spc="-55"/>
              <a:t>and</a:t>
            </a:r>
            <a:r>
              <a:rPr dirty="0" sz="4500" spc="-405"/>
              <a:t> </a:t>
            </a:r>
            <a:r>
              <a:rPr dirty="0" sz="4500" spc="-10"/>
              <a:t>require attention.</a:t>
            </a:r>
            <a:endParaRPr sz="4500"/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4500" spc="-60"/>
              <a:t>Customer</a:t>
            </a:r>
            <a:r>
              <a:rPr dirty="0" sz="4500" spc="-430"/>
              <a:t> </a:t>
            </a:r>
            <a:r>
              <a:rPr dirty="0" sz="4500" spc="-65"/>
              <a:t>demand</a:t>
            </a:r>
            <a:r>
              <a:rPr dirty="0" sz="4500" spc="-430"/>
              <a:t> </a:t>
            </a:r>
            <a:r>
              <a:rPr dirty="0" sz="4500" spc="-45"/>
              <a:t>patterns</a:t>
            </a:r>
            <a:r>
              <a:rPr dirty="0" sz="4500" spc="-430"/>
              <a:t> </a:t>
            </a:r>
            <a:r>
              <a:rPr dirty="0" sz="4500" spc="-140"/>
              <a:t>are</a:t>
            </a:r>
            <a:r>
              <a:rPr dirty="0" sz="4500" spc="-430"/>
              <a:t> </a:t>
            </a:r>
            <a:r>
              <a:rPr dirty="0" sz="4500" spc="-25"/>
              <a:t>clearly</a:t>
            </a:r>
            <a:r>
              <a:rPr dirty="0" sz="4500" spc="-425"/>
              <a:t> </a:t>
            </a:r>
            <a:r>
              <a:rPr dirty="0" sz="4500" spc="-30"/>
              <a:t>visible</a:t>
            </a:r>
            <a:r>
              <a:rPr dirty="0" sz="4500" spc="-430"/>
              <a:t> </a:t>
            </a:r>
            <a:r>
              <a:rPr dirty="0" sz="4500" spc="-85"/>
              <a:t>through</a:t>
            </a:r>
            <a:r>
              <a:rPr dirty="0" sz="4500" spc="-430"/>
              <a:t> </a:t>
            </a:r>
            <a:r>
              <a:rPr dirty="0" sz="4500" spc="-10"/>
              <a:t>trends</a:t>
            </a:r>
            <a:r>
              <a:rPr dirty="0" sz="4500" spc="-10">
                <a:latin typeface="Arial Black"/>
                <a:cs typeface="Arial Black"/>
              </a:rPr>
              <a:t>.</a:t>
            </a:r>
            <a:endParaRPr sz="4500">
              <a:latin typeface="Arial Black"/>
              <a:cs typeface="Arial Black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824" y="4348781"/>
            <a:ext cx="209550" cy="2095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824" y="5148881"/>
            <a:ext cx="209550" cy="2095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824" y="6749081"/>
            <a:ext cx="209550" cy="2095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976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70"/>
              <a:t>Key</a:t>
            </a:r>
            <a:r>
              <a:rPr dirty="0" spc="-540"/>
              <a:t> </a:t>
            </a:r>
            <a:r>
              <a:rPr dirty="0" spc="-400"/>
              <a:t>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5445">
              <a:lnSpc>
                <a:spcPct val="100000"/>
              </a:lnSpc>
              <a:spcBef>
                <a:spcPts val="135"/>
              </a:spcBef>
            </a:pPr>
            <a:r>
              <a:rPr dirty="0" spc="-480"/>
              <a:t>Tools</a:t>
            </a:r>
            <a:r>
              <a:rPr dirty="0" spc="-535"/>
              <a:t> </a:t>
            </a:r>
            <a:r>
              <a:rPr dirty="0" spc="-1260"/>
              <a:t>&amp;</a:t>
            </a:r>
            <a:r>
              <a:rPr dirty="0" spc="-535"/>
              <a:t> </a:t>
            </a:r>
            <a:r>
              <a:rPr dirty="0" spc="-434"/>
              <a:t>Technologies</a:t>
            </a:r>
            <a:r>
              <a:rPr dirty="0" spc="-530"/>
              <a:t> </a:t>
            </a:r>
            <a:r>
              <a:rPr dirty="0" spc="-434"/>
              <a:t>Used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051" y="2985886"/>
            <a:ext cx="180975" cy="1809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665292" y="2620703"/>
            <a:ext cx="11042650" cy="2921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838835">
              <a:lnSpc>
                <a:spcPct val="115900"/>
              </a:lnSpc>
              <a:spcBef>
                <a:spcPts val="90"/>
              </a:spcBef>
            </a:pPr>
            <a:r>
              <a:rPr dirty="0" sz="4100">
                <a:latin typeface="Verdana"/>
                <a:cs typeface="Verdana"/>
              </a:rPr>
              <a:t>Python</a:t>
            </a:r>
            <a:r>
              <a:rPr dirty="0" sz="4100" spc="-360">
                <a:latin typeface="Verdana"/>
                <a:cs typeface="Verdana"/>
              </a:rPr>
              <a:t> </a:t>
            </a:r>
            <a:r>
              <a:rPr dirty="0" sz="4100">
                <a:latin typeface="Verdana"/>
                <a:cs typeface="Verdana"/>
              </a:rPr>
              <a:t>for</a:t>
            </a:r>
            <a:r>
              <a:rPr dirty="0" sz="4100" spc="-360">
                <a:latin typeface="Verdana"/>
                <a:cs typeface="Verdana"/>
              </a:rPr>
              <a:t> </a:t>
            </a:r>
            <a:r>
              <a:rPr dirty="0" sz="4100" spc="-65">
                <a:latin typeface="Verdana"/>
                <a:cs typeface="Verdana"/>
              </a:rPr>
              <a:t>data</a:t>
            </a:r>
            <a:r>
              <a:rPr dirty="0" sz="4100" spc="-360">
                <a:latin typeface="Verdana"/>
                <a:cs typeface="Verdana"/>
              </a:rPr>
              <a:t> </a:t>
            </a:r>
            <a:r>
              <a:rPr dirty="0" sz="4100" spc="-55">
                <a:latin typeface="Verdana"/>
                <a:cs typeface="Verdana"/>
              </a:rPr>
              <a:t>processing</a:t>
            </a:r>
            <a:r>
              <a:rPr dirty="0" sz="4100" spc="-360">
                <a:latin typeface="Verdana"/>
                <a:cs typeface="Verdana"/>
              </a:rPr>
              <a:t> </a:t>
            </a:r>
            <a:r>
              <a:rPr dirty="0" sz="4100" spc="-60">
                <a:latin typeface="Verdana"/>
                <a:cs typeface="Verdana"/>
              </a:rPr>
              <a:t>and</a:t>
            </a:r>
            <a:r>
              <a:rPr dirty="0" sz="4100" spc="-360">
                <a:latin typeface="Verdana"/>
                <a:cs typeface="Verdana"/>
              </a:rPr>
              <a:t> </a:t>
            </a:r>
            <a:r>
              <a:rPr dirty="0" sz="4100" spc="-85">
                <a:latin typeface="Verdana"/>
                <a:cs typeface="Verdana"/>
              </a:rPr>
              <a:t>analysis. </a:t>
            </a:r>
            <a:r>
              <a:rPr dirty="0" sz="4100" spc="-65">
                <a:latin typeface="Verdana"/>
                <a:cs typeface="Verdana"/>
              </a:rPr>
              <a:t>Pandas</a:t>
            </a:r>
            <a:r>
              <a:rPr dirty="0" sz="4100" spc="-400">
                <a:latin typeface="Verdana"/>
                <a:cs typeface="Verdana"/>
              </a:rPr>
              <a:t> </a:t>
            </a:r>
            <a:r>
              <a:rPr dirty="0" sz="4100" spc="-270">
                <a:latin typeface="Verdana"/>
                <a:cs typeface="Verdana"/>
              </a:rPr>
              <a:t>&amp;</a:t>
            </a:r>
            <a:r>
              <a:rPr dirty="0" sz="4100" spc="-395">
                <a:latin typeface="Verdana"/>
                <a:cs typeface="Verdana"/>
              </a:rPr>
              <a:t> </a:t>
            </a:r>
            <a:r>
              <a:rPr dirty="0" sz="4100" spc="-35">
                <a:latin typeface="Verdana"/>
                <a:cs typeface="Verdana"/>
              </a:rPr>
              <a:t>NumPy</a:t>
            </a:r>
            <a:r>
              <a:rPr dirty="0" sz="4100" spc="-395">
                <a:latin typeface="Verdana"/>
                <a:cs typeface="Verdana"/>
              </a:rPr>
              <a:t> </a:t>
            </a:r>
            <a:r>
              <a:rPr dirty="0" sz="4100">
                <a:latin typeface="Verdana"/>
                <a:cs typeface="Verdana"/>
              </a:rPr>
              <a:t>for</a:t>
            </a:r>
            <a:r>
              <a:rPr dirty="0" sz="4100" spc="-395">
                <a:latin typeface="Verdana"/>
                <a:cs typeface="Verdana"/>
              </a:rPr>
              <a:t> </a:t>
            </a:r>
            <a:r>
              <a:rPr dirty="0" sz="4100" spc="-65">
                <a:latin typeface="Verdana"/>
                <a:cs typeface="Verdana"/>
              </a:rPr>
              <a:t>data</a:t>
            </a:r>
            <a:r>
              <a:rPr dirty="0" sz="4100" spc="-395">
                <a:latin typeface="Verdana"/>
                <a:cs typeface="Verdana"/>
              </a:rPr>
              <a:t> </a:t>
            </a:r>
            <a:r>
              <a:rPr dirty="0" sz="4100" spc="-10">
                <a:latin typeface="Verdana"/>
                <a:cs typeface="Verdana"/>
              </a:rPr>
              <a:t>manipulation.</a:t>
            </a:r>
            <a:endParaRPr sz="4100">
              <a:latin typeface="Verdana"/>
              <a:cs typeface="Verdana"/>
            </a:endParaRPr>
          </a:p>
          <a:p>
            <a:pPr marL="12700" marR="5080" indent="128270">
              <a:lnSpc>
                <a:spcPts val="5700"/>
              </a:lnSpc>
              <a:spcBef>
                <a:spcPts val="120"/>
              </a:spcBef>
            </a:pPr>
            <a:r>
              <a:rPr dirty="0" sz="4100" spc="50">
                <a:latin typeface="Verdana"/>
                <a:cs typeface="Verdana"/>
              </a:rPr>
              <a:t>Matplotlib</a:t>
            </a:r>
            <a:r>
              <a:rPr dirty="0" sz="4100" spc="-395">
                <a:latin typeface="Verdana"/>
                <a:cs typeface="Verdana"/>
              </a:rPr>
              <a:t> </a:t>
            </a:r>
            <a:r>
              <a:rPr dirty="0" sz="4100" spc="-270">
                <a:latin typeface="Verdana"/>
                <a:cs typeface="Verdana"/>
              </a:rPr>
              <a:t>&amp;</a:t>
            </a:r>
            <a:r>
              <a:rPr dirty="0" sz="4100" spc="-395">
                <a:latin typeface="Verdana"/>
                <a:cs typeface="Verdana"/>
              </a:rPr>
              <a:t> </a:t>
            </a:r>
            <a:r>
              <a:rPr dirty="0" sz="4100" spc="-80">
                <a:latin typeface="Verdana"/>
                <a:cs typeface="Verdana"/>
              </a:rPr>
              <a:t>Seaborn</a:t>
            </a:r>
            <a:r>
              <a:rPr dirty="0" sz="4100" spc="-390">
                <a:latin typeface="Verdana"/>
                <a:cs typeface="Verdana"/>
              </a:rPr>
              <a:t> </a:t>
            </a:r>
            <a:r>
              <a:rPr dirty="0" sz="4100">
                <a:latin typeface="Verdana"/>
                <a:cs typeface="Verdana"/>
              </a:rPr>
              <a:t>for</a:t>
            </a:r>
            <a:r>
              <a:rPr dirty="0" sz="4100" spc="-395">
                <a:latin typeface="Verdana"/>
                <a:cs typeface="Verdana"/>
              </a:rPr>
              <a:t> </a:t>
            </a:r>
            <a:r>
              <a:rPr dirty="0" sz="4100" spc="-65">
                <a:latin typeface="Verdana"/>
                <a:cs typeface="Verdana"/>
              </a:rPr>
              <a:t>data</a:t>
            </a:r>
            <a:r>
              <a:rPr dirty="0" sz="4100" spc="-395">
                <a:latin typeface="Verdana"/>
                <a:cs typeface="Verdana"/>
              </a:rPr>
              <a:t> </a:t>
            </a:r>
            <a:r>
              <a:rPr dirty="0" sz="4100" spc="-65">
                <a:latin typeface="Verdana"/>
                <a:cs typeface="Verdana"/>
              </a:rPr>
              <a:t>visualization. </a:t>
            </a:r>
            <a:r>
              <a:rPr dirty="0" sz="4100">
                <a:latin typeface="Verdana"/>
                <a:cs typeface="Verdana"/>
              </a:rPr>
              <a:t>for</a:t>
            </a:r>
            <a:r>
              <a:rPr dirty="0" sz="4100" spc="-345">
                <a:latin typeface="Verdana"/>
                <a:cs typeface="Verdana"/>
              </a:rPr>
              <a:t> </a:t>
            </a:r>
            <a:r>
              <a:rPr dirty="0" sz="4100" spc="-60">
                <a:latin typeface="Verdana"/>
                <a:cs typeface="Verdana"/>
              </a:rPr>
              <a:t>implementation</a:t>
            </a:r>
            <a:r>
              <a:rPr dirty="0" sz="4100" spc="-345">
                <a:latin typeface="Verdana"/>
                <a:cs typeface="Verdana"/>
              </a:rPr>
              <a:t> </a:t>
            </a:r>
            <a:r>
              <a:rPr dirty="0" sz="4100" spc="-60">
                <a:latin typeface="Verdana"/>
                <a:cs typeface="Verdana"/>
              </a:rPr>
              <a:t>and</a:t>
            </a:r>
            <a:r>
              <a:rPr dirty="0" sz="4100" spc="-345">
                <a:latin typeface="Verdana"/>
                <a:cs typeface="Verdana"/>
              </a:rPr>
              <a:t> </a:t>
            </a:r>
            <a:r>
              <a:rPr dirty="0" sz="4100" spc="-10">
                <a:latin typeface="Verdana"/>
                <a:cs typeface="Verdana"/>
              </a:rPr>
              <a:t>experimentation.</a:t>
            </a:r>
            <a:endParaRPr sz="41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051" y="3709786"/>
            <a:ext cx="180975" cy="1809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051" y="4433686"/>
            <a:ext cx="180975" cy="1809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051" y="5157585"/>
            <a:ext cx="180975" cy="1809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70" y="4027169"/>
            <a:ext cx="180975" cy="18097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346914" y="3687533"/>
            <a:ext cx="14657705" cy="284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4000" spc="-190">
                <a:latin typeface="Verdana"/>
                <a:cs typeface="Verdana"/>
              </a:rPr>
              <a:t>1_data_cleaning.ipynb</a:t>
            </a:r>
            <a:r>
              <a:rPr dirty="0" sz="4000" spc="-370">
                <a:latin typeface="Verdana"/>
                <a:cs typeface="Verdana"/>
              </a:rPr>
              <a:t> </a:t>
            </a:r>
            <a:r>
              <a:rPr dirty="0" sz="4000" spc="-254">
                <a:latin typeface="Verdana"/>
                <a:cs typeface="Verdana"/>
              </a:rPr>
              <a:t>–</a:t>
            </a:r>
            <a:r>
              <a:rPr dirty="0" sz="4000" spc="-370">
                <a:latin typeface="Verdana"/>
                <a:cs typeface="Verdana"/>
              </a:rPr>
              <a:t> </a:t>
            </a:r>
            <a:r>
              <a:rPr dirty="0" sz="4000" spc="-90">
                <a:latin typeface="Verdana"/>
                <a:cs typeface="Verdana"/>
              </a:rPr>
              <a:t>Dataset</a:t>
            </a:r>
            <a:r>
              <a:rPr dirty="0" sz="4000" spc="-365">
                <a:latin typeface="Verdana"/>
                <a:cs typeface="Verdana"/>
              </a:rPr>
              <a:t> </a:t>
            </a:r>
            <a:r>
              <a:rPr dirty="0" sz="4000" spc="-85">
                <a:latin typeface="Verdana"/>
                <a:cs typeface="Verdana"/>
              </a:rPr>
              <a:t>cleaning</a:t>
            </a:r>
            <a:r>
              <a:rPr dirty="0" sz="4000" spc="-370">
                <a:latin typeface="Verdana"/>
                <a:cs typeface="Verdana"/>
              </a:rPr>
              <a:t> </a:t>
            </a:r>
            <a:r>
              <a:rPr dirty="0" sz="4000" spc="-75">
                <a:latin typeface="Verdana"/>
                <a:cs typeface="Verdana"/>
              </a:rPr>
              <a:t>and</a:t>
            </a:r>
            <a:r>
              <a:rPr dirty="0" sz="4000" spc="-365">
                <a:latin typeface="Verdana"/>
                <a:cs typeface="Verdana"/>
              </a:rPr>
              <a:t> </a:t>
            </a:r>
            <a:r>
              <a:rPr dirty="0" sz="4000" spc="-10">
                <a:latin typeface="Verdana"/>
                <a:cs typeface="Verdana"/>
              </a:rPr>
              <a:t>preprocessing </a:t>
            </a:r>
            <a:r>
              <a:rPr dirty="0" sz="4000" spc="-190">
                <a:latin typeface="Verdana"/>
                <a:cs typeface="Verdana"/>
              </a:rPr>
              <a:t>2_eda.ipynb</a:t>
            </a:r>
            <a:r>
              <a:rPr dirty="0" sz="4000" spc="-390">
                <a:latin typeface="Verdana"/>
                <a:cs typeface="Verdana"/>
              </a:rPr>
              <a:t> </a:t>
            </a:r>
            <a:r>
              <a:rPr dirty="0" sz="4000" spc="-254">
                <a:latin typeface="Verdana"/>
                <a:cs typeface="Verdana"/>
              </a:rPr>
              <a:t>–</a:t>
            </a:r>
            <a:r>
              <a:rPr dirty="0" sz="4000" spc="-385">
                <a:latin typeface="Verdana"/>
                <a:cs typeface="Verdana"/>
              </a:rPr>
              <a:t> </a:t>
            </a:r>
            <a:r>
              <a:rPr dirty="0" sz="4000" spc="-70">
                <a:latin typeface="Verdana"/>
                <a:cs typeface="Verdana"/>
              </a:rPr>
              <a:t>Exploratory</a:t>
            </a:r>
            <a:r>
              <a:rPr dirty="0" sz="4000" spc="-385">
                <a:latin typeface="Verdana"/>
                <a:cs typeface="Verdana"/>
              </a:rPr>
              <a:t> </a:t>
            </a:r>
            <a:r>
              <a:rPr dirty="0" sz="4000" spc="-114">
                <a:latin typeface="Verdana"/>
                <a:cs typeface="Verdana"/>
              </a:rPr>
              <a:t>Data</a:t>
            </a:r>
            <a:r>
              <a:rPr dirty="0" sz="4000" spc="-390">
                <a:latin typeface="Verdana"/>
                <a:cs typeface="Verdana"/>
              </a:rPr>
              <a:t> </a:t>
            </a:r>
            <a:r>
              <a:rPr dirty="0" sz="4000" spc="-10">
                <a:latin typeface="Verdana"/>
                <a:cs typeface="Verdana"/>
              </a:rPr>
              <a:t>Analysis</a:t>
            </a:r>
            <a:endParaRPr sz="4000">
              <a:latin typeface="Verdana"/>
              <a:cs typeface="Verdana"/>
            </a:endParaRPr>
          </a:p>
          <a:p>
            <a:pPr marL="12700" marR="3333115">
              <a:lnSpc>
                <a:spcPct val="115599"/>
              </a:lnSpc>
            </a:pPr>
            <a:r>
              <a:rPr dirty="0" sz="4000" spc="-160">
                <a:latin typeface="Verdana"/>
                <a:cs typeface="Verdana"/>
              </a:rPr>
              <a:t>3_analysis.ipynb</a:t>
            </a:r>
            <a:r>
              <a:rPr dirty="0" sz="4000" spc="-375">
                <a:latin typeface="Verdana"/>
                <a:cs typeface="Verdana"/>
              </a:rPr>
              <a:t> </a:t>
            </a:r>
            <a:r>
              <a:rPr dirty="0" sz="4000" spc="-254">
                <a:latin typeface="Verdana"/>
                <a:cs typeface="Verdana"/>
              </a:rPr>
              <a:t>–</a:t>
            </a:r>
            <a:r>
              <a:rPr dirty="0" sz="4000" spc="-370">
                <a:latin typeface="Verdana"/>
                <a:cs typeface="Verdana"/>
              </a:rPr>
              <a:t> </a:t>
            </a:r>
            <a:r>
              <a:rPr dirty="0" sz="4000" spc="-155">
                <a:latin typeface="Verdana"/>
                <a:cs typeface="Verdana"/>
              </a:rPr>
              <a:t>Insights</a:t>
            </a:r>
            <a:r>
              <a:rPr dirty="0" sz="4000" spc="-370">
                <a:latin typeface="Verdana"/>
                <a:cs typeface="Verdana"/>
              </a:rPr>
              <a:t> </a:t>
            </a:r>
            <a:r>
              <a:rPr dirty="0" sz="4000" spc="-75">
                <a:latin typeface="Verdana"/>
                <a:cs typeface="Verdana"/>
              </a:rPr>
              <a:t>and</a:t>
            </a:r>
            <a:r>
              <a:rPr dirty="0" sz="4000" spc="-370">
                <a:latin typeface="Verdana"/>
                <a:cs typeface="Verdana"/>
              </a:rPr>
              <a:t> </a:t>
            </a:r>
            <a:r>
              <a:rPr dirty="0" sz="4000" spc="-10">
                <a:latin typeface="Verdana"/>
                <a:cs typeface="Verdana"/>
              </a:rPr>
              <a:t>visualization </a:t>
            </a:r>
            <a:r>
              <a:rPr dirty="0" sz="4000" spc="-125">
                <a:latin typeface="Verdana"/>
                <a:cs typeface="Verdana"/>
              </a:rPr>
              <a:t>cleaned_dataset.csv</a:t>
            </a:r>
            <a:r>
              <a:rPr dirty="0" sz="4000" spc="-365">
                <a:latin typeface="Verdana"/>
                <a:cs typeface="Verdana"/>
              </a:rPr>
              <a:t> </a:t>
            </a:r>
            <a:r>
              <a:rPr dirty="0" sz="4000" spc="-254">
                <a:latin typeface="Verdana"/>
                <a:cs typeface="Verdana"/>
              </a:rPr>
              <a:t>–</a:t>
            </a:r>
            <a:r>
              <a:rPr dirty="0" sz="4000" spc="-360">
                <a:latin typeface="Verdana"/>
                <a:cs typeface="Verdana"/>
              </a:rPr>
              <a:t> </a:t>
            </a:r>
            <a:r>
              <a:rPr dirty="0" sz="4000" spc="-70">
                <a:latin typeface="Verdana"/>
                <a:cs typeface="Verdana"/>
              </a:rPr>
              <a:t>Final</a:t>
            </a:r>
            <a:r>
              <a:rPr dirty="0" sz="4000" spc="-360">
                <a:latin typeface="Verdana"/>
                <a:cs typeface="Verdana"/>
              </a:rPr>
              <a:t> </a:t>
            </a:r>
            <a:r>
              <a:rPr dirty="0" sz="4000" spc="-30">
                <a:latin typeface="Verdana"/>
                <a:cs typeface="Verdana"/>
              </a:rPr>
              <a:t>processed</a:t>
            </a:r>
            <a:r>
              <a:rPr dirty="0" sz="4000" spc="-360">
                <a:latin typeface="Verdana"/>
                <a:cs typeface="Verdana"/>
              </a:rPr>
              <a:t> </a:t>
            </a:r>
            <a:r>
              <a:rPr dirty="0" sz="4000" spc="-10">
                <a:latin typeface="Verdana"/>
                <a:cs typeface="Verdana"/>
              </a:rPr>
              <a:t>dataset</a:t>
            </a:r>
            <a:endParaRPr sz="40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70" y="4732019"/>
            <a:ext cx="180975" cy="1809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370" y="5436869"/>
            <a:ext cx="180975" cy="1809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370" y="6141719"/>
            <a:ext cx="180975" cy="1809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00197" y="1636649"/>
            <a:ext cx="6108065" cy="8921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45"/>
              <a:t>Project</a:t>
            </a:r>
            <a:r>
              <a:rPr dirty="0" spc="-530"/>
              <a:t> </a:t>
            </a:r>
            <a:r>
              <a:rPr dirty="0" spc="-325"/>
              <a:t>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099" y="3282314"/>
            <a:ext cx="219075" cy="21907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049016" y="2867279"/>
            <a:ext cx="14051280" cy="34163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7100"/>
              </a:lnSpc>
              <a:spcBef>
                <a:spcPts val="90"/>
              </a:spcBef>
            </a:pPr>
            <a:r>
              <a:rPr dirty="0" sz="4750" spc="-70">
                <a:latin typeface="Verdana"/>
                <a:cs typeface="Verdana"/>
              </a:rPr>
              <a:t>Handling</a:t>
            </a:r>
            <a:r>
              <a:rPr dirty="0" sz="4750" spc="-450">
                <a:latin typeface="Verdana"/>
                <a:cs typeface="Verdana"/>
              </a:rPr>
              <a:t> </a:t>
            </a:r>
            <a:r>
              <a:rPr dirty="0" sz="4750" spc="-140">
                <a:latin typeface="Verdana"/>
                <a:cs typeface="Verdana"/>
              </a:rPr>
              <a:t>missing</a:t>
            </a:r>
            <a:r>
              <a:rPr dirty="0" sz="4750" spc="-450">
                <a:latin typeface="Verdana"/>
                <a:cs typeface="Verdana"/>
              </a:rPr>
              <a:t> </a:t>
            </a:r>
            <a:r>
              <a:rPr dirty="0" sz="4750" spc="-70">
                <a:latin typeface="Verdana"/>
                <a:cs typeface="Verdana"/>
              </a:rPr>
              <a:t>and</a:t>
            </a:r>
            <a:r>
              <a:rPr dirty="0" sz="4750" spc="-450">
                <a:latin typeface="Verdana"/>
                <a:cs typeface="Verdana"/>
              </a:rPr>
              <a:t> </a:t>
            </a:r>
            <a:r>
              <a:rPr dirty="0" sz="4750" spc="-25">
                <a:latin typeface="Verdana"/>
                <a:cs typeface="Verdana"/>
              </a:rPr>
              <a:t>inconsistent</a:t>
            </a:r>
            <a:r>
              <a:rPr dirty="0" sz="4750" spc="-450">
                <a:latin typeface="Verdana"/>
                <a:cs typeface="Verdana"/>
              </a:rPr>
              <a:t> </a:t>
            </a:r>
            <a:r>
              <a:rPr dirty="0" sz="4750" spc="-10">
                <a:latin typeface="Verdana"/>
                <a:cs typeface="Verdana"/>
              </a:rPr>
              <a:t>data. </a:t>
            </a:r>
            <a:r>
              <a:rPr dirty="0" sz="4750" spc="-65">
                <a:latin typeface="Verdana"/>
                <a:cs typeface="Verdana"/>
              </a:rPr>
              <a:t>Choosing</a:t>
            </a:r>
            <a:r>
              <a:rPr dirty="0" sz="4750" spc="-405">
                <a:latin typeface="Verdana"/>
                <a:cs typeface="Verdana"/>
              </a:rPr>
              <a:t> </a:t>
            </a:r>
            <a:r>
              <a:rPr dirty="0" sz="4750" spc="-40">
                <a:latin typeface="Verdana"/>
                <a:cs typeface="Verdana"/>
              </a:rPr>
              <a:t>appropriate</a:t>
            </a:r>
            <a:r>
              <a:rPr dirty="0" sz="4750" spc="-400">
                <a:latin typeface="Verdana"/>
                <a:cs typeface="Verdana"/>
              </a:rPr>
              <a:t> </a:t>
            </a:r>
            <a:r>
              <a:rPr dirty="0" sz="4750" spc="-85">
                <a:latin typeface="Verdana"/>
                <a:cs typeface="Verdana"/>
              </a:rPr>
              <a:t>visualizations</a:t>
            </a:r>
            <a:r>
              <a:rPr dirty="0" sz="4750" spc="-400">
                <a:latin typeface="Verdana"/>
                <a:cs typeface="Verdana"/>
              </a:rPr>
              <a:t> </a:t>
            </a:r>
            <a:r>
              <a:rPr dirty="0" sz="4750">
                <a:latin typeface="Verdana"/>
                <a:cs typeface="Verdana"/>
              </a:rPr>
              <a:t>for</a:t>
            </a:r>
            <a:r>
              <a:rPr dirty="0" sz="4750" spc="-400">
                <a:latin typeface="Verdana"/>
                <a:cs typeface="Verdana"/>
              </a:rPr>
              <a:t> </a:t>
            </a:r>
            <a:r>
              <a:rPr dirty="0" sz="4750" spc="-65">
                <a:latin typeface="Verdana"/>
                <a:cs typeface="Verdana"/>
              </a:rPr>
              <a:t>insights. </a:t>
            </a:r>
            <a:r>
              <a:rPr dirty="0" sz="4750" spc="-120">
                <a:latin typeface="Verdana"/>
                <a:cs typeface="Verdana"/>
              </a:rPr>
              <a:t>Managing</a:t>
            </a:r>
            <a:r>
              <a:rPr dirty="0" sz="4750" spc="-455">
                <a:latin typeface="Verdana"/>
                <a:cs typeface="Verdana"/>
              </a:rPr>
              <a:t> </a:t>
            </a:r>
            <a:r>
              <a:rPr dirty="0" sz="4750" spc="-145">
                <a:latin typeface="Verdana"/>
                <a:cs typeface="Verdana"/>
              </a:rPr>
              <a:t>large</a:t>
            </a:r>
            <a:r>
              <a:rPr dirty="0" sz="4750" spc="-455">
                <a:latin typeface="Verdana"/>
                <a:cs typeface="Verdana"/>
              </a:rPr>
              <a:t> </a:t>
            </a:r>
            <a:r>
              <a:rPr dirty="0" sz="4750" spc="-70">
                <a:latin typeface="Verdana"/>
                <a:cs typeface="Verdana"/>
              </a:rPr>
              <a:t>datasets</a:t>
            </a:r>
            <a:r>
              <a:rPr dirty="0" sz="4750" spc="-455">
                <a:latin typeface="Verdana"/>
                <a:cs typeface="Verdana"/>
              </a:rPr>
              <a:t> </a:t>
            </a:r>
            <a:r>
              <a:rPr dirty="0" sz="4750" spc="-10">
                <a:latin typeface="Verdana"/>
                <a:cs typeface="Verdana"/>
              </a:rPr>
              <a:t>efficiently.</a:t>
            </a:r>
            <a:endParaRPr sz="4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4750" spc="-114">
                <a:latin typeface="Verdana"/>
                <a:cs typeface="Verdana"/>
              </a:rPr>
              <a:t>Ensuring</a:t>
            </a:r>
            <a:r>
              <a:rPr dirty="0" sz="4750" spc="-465">
                <a:latin typeface="Verdana"/>
                <a:cs typeface="Verdana"/>
              </a:rPr>
              <a:t> </a:t>
            </a:r>
            <a:r>
              <a:rPr dirty="0" sz="4750" spc="-10">
                <a:latin typeface="Verdana"/>
                <a:cs typeface="Verdana"/>
              </a:rPr>
              <a:t>clarity</a:t>
            </a:r>
            <a:r>
              <a:rPr dirty="0" sz="4750" spc="-459">
                <a:latin typeface="Verdana"/>
                <a:cs typeface="Verdana"/>
              </a:rPr>
              <a:t> </a:t>
            </a:r>
            <a:r>
              <a:rPr dirty="0" sz="4750" spc="-55">
                <a:latin typeface="Verdana"/>
                <a:cs typeface="Verdana"/>
              </a:rPr>
              <a:t>in</a:t>
            </a:r>
            <a:r>
              <a:rPr dirty="0" sz="4750" spc="-465">
                <a:latin typeface="Verdana"/>
                <a:cs typeface="Verdana"/>
              </a:rPr>
              <a:t> </a:t>
            </a:r>
            <a:r>
              <a:rPr dirty="0" sz="4750" spc="-40">
                <a:latin typeface="Verdana"/>
                <a:cs typeface="Verdana"/>
              </a:rPr>
              <a:t>interpretation</a:t>
            </a:r>
            <a:r>
              <a:rPr dirty="0" sz="4750" spc="-459">
                <a:latin typeface="Verdana"/>
                <a:cs typeface="Verdana"/>
              </a:rPr>
              <a:t> </a:t>
            </a:r>
            <a:r>
              <a:rPr dirty="0" sz="4750" spc="100">
                <a:latin typeface="Verdana"/>
                <a:cs typeface="Verdana"/>
              </a:rPr>
              <a:t>of</a:t>
            </a:r>
            <a:r>
              <a:rPr dirty="0" sz="4750" spc="-459">
                <a:latin typeface="Verdana"/>
                <a:cs typeface="Verdana"/>
              </a:rPr>
              <a:t> </a:t>
            </a:r>
            <a:r>
              <a:rPr dirty="0" sz="4750" spc="-10">
                <a:latin typeface="Verdana"/>
                <a:cs typeface="Verdana"/>
              </a:rPr>
              <a:t>results</a:t>
            </a:r>
            <a:r>
              <a:rPr dirty="0" sz="4750" spc="-10">
                <a:latin typeface="Arial Black"/>
                <a:cs typeface="Arial Black"/>
              </a:rPr>
              <a:t>.</a:t>
            </a:r>
            <a:endParaRPr sz="4750">
              <a:latin typeface="Arial Black"/>
              <a:cs typeface="Arial Black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099" y="4130039"/>
            <a:ext cx="219075" cy="2190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099" y="4977764"/>
            <a:ext cx="219075" cy="2190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099" y="5825489"/>
            <a:ext cx="219075" cy="2190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2888" rIns="0" bIns="0" rtlCol="0" vert="horz">
            <a:spAutoFit/>
          </a:bodyPr>
          <a:lstStyle/>
          <a:p>
            <a:pPr marL="1230630">
              <a:lnSpc>
                <a:spcPct val="100000"/>
              </a:lnSpc>
              <a:spcBef>
                <a:spcPts val="135"/>
              </a:spcBef>
            </a:pPr>
            <a:r>
              <a:rPr dirty="0" spc="-390"/>
              <a:t>Challenges</a:t>
            </a:r>
            <a:r>
              <a:rPr dirty="0" spc="-545"/>
              <a:t> </a:t>
            </a:r>
            <a:r>
              <a:rPr dirty="0" spc="-505"/>
              <a:t>Faced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966" y="3494547"/>
            <a:ext cx="200025" cy="200024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72768" rIns="0" bIns="0" rtlCol="0" vert="horz">
            <a:spAutoFit/>
          </a:bodyPr>
          <a:lstStyle/>
          <a:p>
            <a:pPr marL="410845" marR="100330">
              <a:lnSpc>
                <a:spcPct val="116399"/>
              </a:lnSpc>
              <a:spcBef>
                <a:spcPts val="90"/>
              </a:spcBef>
            </a:pPr>
            <a:r>
              <a:rPr dirty="0" spc="-100"/>
              <a:t>The</a:t>
            </a:r>
            <a:r>
              <a:rPr dirty="0" spc="-390"/>
              <a:t> </a:t>
            </a:r>
            <a:r>
              <a:rPr dirty="0" spc="-30"/>
              <a:t>project</a:t>
            </a:r>
            <a:r>
              <a:rPr dirty="0" spc="-390"/>
              <a:t> </a:t>
            </a:r>
            <a:r>
              <a:rPr dirty="0" spc="-10"/>
              <a:t>successfully</a:t>
            </a:r>
            <a:r>
              <a:rPr dirty="0" spc="-385"/>
              <a:t> </a:t>
            </a:r>
            <a:r>
              <a:rPr dirty="0" spc="-60"/>
              <a:t>extracted</a:t>
            </a:r>
            <a:r>
              <a:rPr dirty="0" spc="-390"/>
              <a:t> </a:t>
            </a:r>
            <a:r>
              <a:rPr dirty="0" spc="-85"/>
              <a:t>meaningful</a:t>
            </a:r>
            <a:r>
              <a:rPr dirty="0" spc="-390"/>
              <a:t> </a:t>
            </a:r>
            <a:r>
              <a:rPr dirty="0" spc="-85"/>
              <a:t>insights</a:t>
            </a:r>
            <a:r>
              <a:rPr dirty="0" spc="-385"/>
              <a:t> </a:t>
            </a:r>
            <a:r>
              <a:rPr dirty="0" spc="-20"/>
              <a:t>from </a:t>
            </a:r>
            <a:r>
              <a:rPr dirty="0" spc="-80"/>
              <a:t>sales</a:t>
            </a:r>
            <a:r>
              <a:rPr dirty="0" spc="-425"/>
              <a:t> </a:t>
            </a:r>
            <a:r>
              <a:rPr dirty="0" spc="-20"/>
              <a:t>data.</a:t>
            </a:r>
          </a:p>
          <a:p>
            <a:pPr marL="410845" marR="5080">
              <a:lnSpc>
                <a:spcPts val="6080"/>
              </a:lnSpc>
              <a:spcBef>
                <a:spcPts val="340"/>
              </a:spcBef>
            </a:pPr>
            <a:r>
              <a:rPr dirty="0" spc="-95"/>
              <a:t>Data</a:t>
            </a:r>
            <a:r>
              <a:rPr dirty="0" spc="-409"/>
              <a:t> </a:t>
            </a:r>
            <a:r>
              <a:rPr dirty="0" spc="-70"/>
              <a:t>visualization</a:t>
            </a:r>
            <a:r>
              <a:rPr dirty="0" spc="-409"/>
              <a:t> </a:t>
            </a:r>
            <a:r>
              <a:rPr dirty="0" spc="-40"/>
              <a:t>played</a:t>
            </a:r>
            <a:r>
              <a:rPr dirty="0" spc="-409"/>
              <a:t> </a:t>
            </a:r>
            <a:r>
              <a:rPr dirty="0" spc="-190"/>
              <a:t>a</a:t>
            </a:r>
            <a:r>
              <a:rPr dirty="0" spc="-409"/>
              <a:t> </a:t>
            </a:r>
            <a:r>
              <a:rPr dirty="0" spc="-210"/>
              <a:t>key</a:t>
            </a:r>
            <a:r>
              <a:rPr dirty="0" spc="-405"/>
              <a:t> </a:t>
            </a:r>
            <a:r>
              <a:rPr dirty="0" spc="-20"/>
              <a:t>role</a:t>
            </a:r>
            <a:r>
              <a:rPr dirty="0" spc="-409"/>
              <a:t> </a:t>
            </a:r>
            <a:r>
              <a:rPr dirty="0" spc="-50"/>
              <a:t>in</a:t>
            </a:r>
            <a:r>
              <a:rPr dirty="0" spc="-409"/>
              <a:t> </a:t>
            </a:r>
            <a:r>
              <a:rPr dirty="0" spc="-65"/>
              <a:t>understanding</a:t>
            </a:r>
            <a:r>
              <a:rPr dirty="0" spc="-409"/>
              <a:t> </a:t>
            </a:r>
            <a:r>
              <a:rPr dirty="0" spc="-10"/>
              <a:t>trends. </a:t>
            </a:r>
            <a:r>
              <a:rPr dirty="0" spc="-100"/>
              <a:t>The</a:t>
            </a:r>
            <a:r>
              <a:rPr dirty="0" spc="-420"/>
              <a:t> </a:t>
            </a:r>
            <a:r>
              <a:rPr dirty="0" spc="-50"/>
              <a:t>results</a:t>
            </a:r>
            <a:r>
              <a:rPr dirty="0" spc="-415"/>
              <a:t> </a:t>
            </a:r>
            <a:r>
              <a:rPr dirty="0" spc="-35"/>
              <a:t>can</a:t>
            </a:r>
            <a:r>
              <a:rPr dirty="0" spc="-415"/>
              <a:t> </a:t>
            </a:r>
            <a:r>
              <a:rPr dirty="0"/>
              <a:t>help</a:t>
            </a:r>
            <a:r>
              <a:rPr dirty="0" spc="-415"/>
              <a:t> </a:t>
            </a:r>
            <a:r>
              <a:rPr dirty="0" spc="-70"/>
              <a:t>businesses</a:t>
            </a:r>
            <a:r>
              <a:rPr dirty="0" spc="-415"/>
              <a:t> </a:t>
            </a:r>
            <a:r>
              <a:rPr dirty="0" spc="-75"/>
              <a:t>improve</a:t>
            </a:r>
            <a:r>
              <a:rPr dirty="0" spc="-420"/>
              <a:t> </a:t>
            </a:r>
            <a:r>
              <a:rPr dirty="0" spc="-80"/>
              <a:t>sales</a:t>
            </a:r>
            <a:r>
              <a:rPr dirty="0" spc="-415"/>
              <a:t> </a:t>
            </a:r>
            <a:r>
              <a:rPr dirty="0" spc="-10"/>
              <a:t>strategies.</a:t>
            </a:r>
          </a:p>
          <a:p>
            <a:pPr marL="410845">
              <a:lnSpc>
                <a:spcPct val="100000"/>
              </a:lnSpc>
              <a:spcBef>
                <a:spcPts val="505"/>
              </a:spcBef>
            </a:pPr>
            <a:r>
              <a:rPr dirty="0" spc="-85"/>
              <a:t>This</a:t>
            </a:r>
            <a:r>
              <a:rPr dirty="0" spc="-409"/>
              <a:t> </a:t>
            </a:r>
            <a:r>
              <a:rPr dirty="0" spc="-30"/>
              <a:t>project</a:t>
            </a:r>
            <a:r>
              <a:rPr dirty="0" spc="-409"/>
              <a:t> </a:t>
            </a:r>
            <a:r>
              <a:rPr dirty="0" spc="-60"/>
              <a:t>strengthened</a:t>
            </a:r>
            <a:r>
              <a:rPr dirty="0" spc="-405"/>
              <a:t> </a:t>
            </a:r>
            <a:r>
              <a:rPr dirty="0"/>
              <a:t>practical</a:t>
            </a:r>
            <a:r>
              <a:rPr dirty="0" spc="-409"/>
              <a:t> </a:t>
            </a:r>
            <a:r>
              <a:rPr dirty="0" spc="-60"/>
              <a:t>data</a:t>
            </a:r>
            <a:r>
              <a:rPr dirty="0" spc="-405"/>
              <a:t> </a:t>
            </a:r>
            <a:r>
              <a:rPr dirty="0" spc="-90"/>
              <a:t>analysis</a:t>
            </a:r>
            <a:r>
              <a:rPr dirty="0" spc="-409"/>
              <a:t> </a:t>
            </a:r>
            <a:r>
              <a:rPr dirty="0" spc="-10"/>
              <a:t>skills.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966" y="5037597"/>
            <a:ext cx="200025" cy="2000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966" y="5809121"/>
            <a:ext cx="200025" cy="2000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966" y="6580647"/>
            <a:ext cx="200025" cy="2000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9768" rIns="0" bIns="0" rtlCol="0" vert="horz">
            <a:spAutoFit/>
          </a:bodyPr>
          <a:lstStyle/>
          <a:p>
            <a:pPr marL="609600">
              <a:lnSpc>
                <a:spcPct val="100000"/>
              </a:lnSpc>
              <a:spcBef>
                <a:spcPts val="135"/>
              </a:spcBef>
            </a:pPr>
            <a:r>
              <a:rPr dirty="0" spc="-335"/>
              <a:t>Conclusion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9637" y="4165088"/>
            <a:ext cx="210118" cy="21011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670648" y="3763317"/>
            <a:ext cx="15236825" cy="3317875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4650" spc="-135">
                <a:latin typeface="Verdana"/>
                <a:cs typeface="Verdana"/>
              </a:rPr>
              <a:t>Integration</a:t>
            </a:r>
            <a:r>
              <a:rPr dirty="0" sz="4650" spc="-434">
                <a:latin typeface="Verdana"/>
                <a:cs typeface="Verdana"/>
              </a:rPr>
              <a:t> </a:t>
            </a:r>
            <a:r>
              <a:rPr dirty="0" sz="4650" spc="-55">
                <a:latin typeface="Verdana"/>
                <a:cs typeface="Verdana"/>
              </a:rPr>
              <a:t>with</a:t>
            </a:r>
            <a:r>
              <a:rPr dirty="0" sz="4650" spc="-434">
                <a:latin typeface="Verdana"/>
                <a:cs typeface="Verdana"/>
              </a:rPr>
              <a:t> </a:t>
            </a:r>
            <a:r>
              <a:rPr dirty="0" sz="4650" spc="-165">
                <a:latin typeface="Verdana"/>
                <a:cs typeface="Verdana"/>
              </a:rPr>
              <a:t>real-</a:t>
            </a:r>
            <a:r>
              <a:rPr dirty="0" sz="4650" spc="-100">
                <a:latin typeface="Verdana"/>
                <a:cs typeface="Verdana"/>
              </a:rPr>
              <a:t>time</a:t>
            </a:r>
            <a:r>
              <a:rPr dirty="0" sz="4650" spc="-434">
                <a:latin typeface="Verdana"/>
                <a:cs typeface="Verdana"/>
              </a:rPr>
              <a:t> </a:t>
            </a:r>
            <a:r>
              <a:rPr dirty="0" sz="4650" spc="-105">
                <a:latin typeface="Verdana"/>
                <a:cs typeface="Verdana"/>
              </a:rPr>
              <a:t>sales</a:t>
            </a:r>
            <a:r>
              <a:rPr dirty="0" sz="4650" spc="-434">
                <a:latin typeface="Verdana"/>
                <a:cs typeface="Verdana"/>
              </a:rPr>
              <a:t> </a:t>
            </a:r>
            <a:r>
              <a:rPr dirty="0" sz="4650" spc="-10">
                <a:latin typeface="Verdana"/>
                <a:cs typeface="Verdana"/>
              </a:rPr>
              <a:t>data.</a:t>
            </a:r>
            <a:endParaRPr sz="4650">
              <a:latin typeface="Verdana"/>
              <a:cs typeface="Verdana"/>
            </a:endParaRPr>
          </a:p>
          <a:p>
            <a:pPr marL="12700" marR="5080">
              <a:lnSpc>
                <a:spcPct val="116100"/>
              </a:lnSpc>
            </a:pPr>
            <a:r>
              <a:rPr dirty="0" sz="4650" spc="-40">
                <a:latin typeface="Verdana"/>
                <a:cs typeface="Verdana"/>
              </a:rPr>
              <a:t>Advanced</a:t>
            </a:r>
            <a:r>
              <a:rPr dirty="0" sz="4650" spc="-440">
                <a:latin typeface="Verdana"/>
                <a:cs typeface="Verdana"/>
              </a:rPr>
              <a:t> </a:t>
            </a:r>
            <a:r>
              <a:rPr dirty="0" sz="4650" spc="-25">
                <a:latin typeface="Verdana"/>
                <a:cs typeface="Verdana"/>
              </a:rPr>
              <a:t>predictive</a:t>
            </a:r>
            <a:r>
              <a:rPr dirty="0" sz="4650" spc="-440">
                <a:latin typeface="Verdana"/>
                <a:cs typeface="Verdana"/>
              </a:rPr>
              <a:t> </a:t>
            </a:r>
            <a:r>
              <a:rPr dirty="0" sz="4650" spc="-105">
                <a:latin typeface="Verdana"/>
                <a:cs typeface="Verdana"/>
              </a:rPr>
              <a:t>analysis</a:t>
            </a:r>
            <a:r>
              <a:rPr dirty="0" sz="4650" spc="-434">
                <a:latin typeface="Verdana"/>
                <a:cs typeface="Verdana"/>
              </a:rPr>
              <a:t> </a:t>
            </a:r>
            <a:r>
              <a:rPr dirty="0" sz="4650" spc="-140">
                <a:latin typeface="Verdana"/>
                <a:cs typeface="Verdana"/>
              </a:rPr>
              <a:t>using</a:t>
            </a:r>
            <a:r>
              <a:rPr dirty="0" sz="4650" spc="-440">
                <a:latin typeface="Verdana"/>
                <a:cs typeface="Verdana"/>
              </a:rPr>
              <a:t> </a:t>
            </a:r>
            <a:r>
              <a:rPr dirty="0" sz="4650" spc="-90">
                <a:latin typeface="Verdana"/>
                <a:cs typeface="Verdana"/>
              </a:rPr>
              <a:t>machine</a:t>
            </a:r>
            <a:r>
              <a:rPr dirty="0" sz="4650" spc="-434">
                <a:latin typeface="Verdana"/>
                <a:cs typeface="Verdana"/>
              </a:rPr>
              <a:t> </a:t>
            </a:r>
            <a:r>
              <a:rPr dirty="0" sz="4650" spc="-55">
                <a:latin typeface="Verdana"/>
                <a:cs typeface="Verdana"/>
              </a:rPr>
              <a:t>learning. </a:t>
            </a:r>
            <a:r>
              <a:rPr dirty="0" sz="4650" spc="-65">
                <a:latin typeface="Verdana"/>
                <a:cs typeface="Verdana"/>
              </a:rPr>
              <a:t>Development</a:t>
            </a:r>
            <a:r>
              <a:rPr dirty="0" sz="4650" spc="-425">
                <a:latin typeface="Verdana"/>
                <a:cs typeface="Verdana"/>
              </a:rPr>
              <a:t> </a:t>
            </a:r>
            <a:r>
              <a:rPr dirty="0" sz="4650" spc="95">
                <a:latin typeface="Verdana"/>
                <a:cs typeface="Verdana"/>
              </a:rPr>
              <a:t>of</a:t>
            </a:r>
            <a:r>
              <a:rPr dirty="0" sz="4650" spc="-420">
                <a:latin typeface="Verdana"/>
                <a:cs typeface="Verdana"/>
              </a:rPr>
              <a:t> </a:t>
            </a:r>
            <a:r>
              <a:rPr dirty="0" sz="4650" spc="-60">
                <a:latin typeface="Verdana"/>
                <a:cs typeface="Verdana"/>
              </a:rPr>
              <a:t>interactive</a:t>
            </a:r>
            <a:r>
              <a:rPr dirty="0" sz="4650" spc="-425">
                <a:latin typeface="Verdana"/>
                <a:cs typeface="Verdana"/>
              </a:rPr>
              <a:t> </a:t>
            </a:r>
            <a:r>
              <a:rPr dirty="0" sz="4650" spc="-10">
                <a:latin typeface="Verdana"/>
                <a:cs typeface="Verdana"/>
              </a:rPr>
              <a:t>dashboards.</a:t>
            </a:r>
            <a:endParaRPr sz="4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4650" spc="-75">
                <a:latin typeface="Verdana"/>
                <a:cs typeface="Verdana"/>
              </a:rPr>
              <a:t>Deeper</a:t>
            </a:r>
            <a:r>
              <a:rPr dirty="0" sz="4650" spc="-425">
                <a:latin typeface="Verdana"/>
                <a:cs typeface="Verdana"/>
              </a:rPr>
              <a:t> </a:t>
            </a:r>
            <a:r>
              <a:rPr dirty="0" sz="4650" spc="-60">
                <a:latin typeface="Verdana"/>
                <a:cs typeface="Verdana"/>
              </a:rPr>
              <a:t>customer</a:t>
            </a:r>
            <a:r>
              <a:rPr dirty="0" sz="4650" spc="-420">
                <a:latin typeface="Verdana"/>
                <a:cs typeface="Verdana"/>
              </a:rPr>
              <a:t> </a:t>
            </a:r>
            <a:r>
              <a:rPr dirty="0" sz="4650" spc="-110">
                <a:latin typeface="Verdana"/>
                <a:cs typeface="Verdana"/>
              </a:rPr>
              <a:t>segmentation</a:t>
            </a:r>
            <a:r>
              <a:rPr dirty="0" sz="4650" spc="-420">
                <a:latin typeface="Verdana"/>
                <a:cs typeface="Verdana"/>
              </a:rPr>
              <a:t> </a:t>
            </a:r>
            <a:r>
              <a:rPr dirty="0" sz="4650" spc="-10">
                <a:latin typeface="Verdana"/>
                <a:cs typeface="Verdana"/>
              </a:rPr>
              <a:t>analysis.</a:t>
            </a:r>
            <a:endParaRPr sz="46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9637" y="4988053"/>
            <a:ext cx="210118" cy="21011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9637" y="5811018"/>
            <a:ext cx="210118" cy="21011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9637" y="6633983"/>
            <a:ext cx="210118" cy="21011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3570" y="1546609"/>
            <a:ext cx="4708525" cy="8921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5"/>
              <a:t>Future</a:t>
            </a:r>
            <a:r>
              <a:rPr dirty="0" spc="-545"/>
              <a:t> </a:t>
            </a:r>
            <a:r>
              <a:rPr dirty="0" spc="-425"/>
              <a:t>Scope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4872" y="4010709"/>
            <a:ext cx="6222365" cy="13430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650" spc="-785"/>
              <a:t>Thank</a:t>
            </a:r>
            <a:r>
              <a:rPr dirty="0" sz="8650" spc="-850"/>
              <a:t> </a:t>
            </a:r>
            <a:r>
              <a:rPr dirty="0" sz="8650" spc="-1185"/>
              <a:t>Y</a:t>
            </a:r>
            <a:r>
              <a:rPr dirty="0" sz="8650" spc="-459"/>
              <a:t>ou!</a:t>
            </a:r>
            <a:r>
              <a:rPr dirty="0" sz="8650" spc="-450"/>
              <a:t>!</a:t>
            </a:r>
            <a:endParaRPr sz="8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Ishika Ambagade</dc:creator>
  <cp:keywords>DAHAYfCVL0o,BAFWEobKuZA,0</cp:keywords>
  <dc:title>Sales Data Analysis Dashboard Technical &amp; Business Report Submitted by: Ishika Ambagade Tools Used: Python, Pandas, Matplotlib Duration: Internship Project</dc:title>
  <dcterms:created xsi:type="dcterms:W3CDTF">2026-02-04T18:38:01Z</dcterms:created>
  <dcterms:modified xsi:type="dcterms:W3CDTF">2026-02-04T18:38:01Z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2026-02-04T00:00:00Z</vt:filetime>
  </property>
  <property fmtid="{D5CDD505-2E9C-101B-9397-08002B2CF9AE}" pid="5" name="Producer">
    <vt:lpwstr>Canva</vt:lpwstr>
  </property>
</Properties>
</file>